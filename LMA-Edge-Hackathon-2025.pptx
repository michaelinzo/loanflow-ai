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DM Sans Medium" pitchFamily="2" charset="0"/>
      <p:regular r:id="rId13"/>
    </p:embeddedFont>
    <p:embeddedFont>
      <p:font typeface="Inter"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31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3244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93790" y="2484596"/>
            <a:ext cx="2766298" cy="373142"/>
          </a:xfrm>
          <a:prstGeom prst="roundRect">
            <a:avLst>
              <a:gd name="adj" fmla="val 6383"/>
            </a:avLst>
          </a:prstGeom>
          <a:solidFill>
            <a:srgbClr val="110745"/>
          </a:solidFill>
          <a:ln/>
        </p:spPr>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2852" y="2591753"/>
            <a:ext cx="158710" cy="158710"/>
          </a:xfrm>
          <a:prstGeom prst="rect">
            <a:avLst/>
          </a:prstGeom>
        </p:spPr>
      </p:pic>
      <p:sp>
        <p:nvSpPr>
          <p:cNvPr id="5" name="Text 1"/>
          <p:cNvSpPr/>
          <p:nvPr/>
        </p:nvSpPr>
        <p:spPr>
          <a:xfrm>
            <a:off x="1150858" y="2544128"/>
            <a:ext cx="2290167" cy="254079"/>
          </a:xfrm>
          <a:prstGeom prst="rect">
            <a:avLst/>
          </a:prstGeom>
          <a:noFill/>
          <a:ln/>
        </p:spPr>
        <p:txBody>
          <a:bodyPr wrap="none" lIns="0" tIns="0" rIns="0" bIns="0" rtlCol="0" anchor="t"/>
          <a:lstStyle/>
          <a:p>
            <a:pPr marL="0" indent="0" algn="l">
              <a:lnSpc>
                <a:spcPts val="2000"/>
              </a:lnSpc>
              <a:buNone/>
            </a:pPr>
            <a:r>
              <a:rPr lang="en-US" sz="1250" dirty="0">
                <a:solidFill>
                  <a:srgbClr val="D6D9D7"/>
                </a:solidFill>
                <a:latin typeface="Inter" pitchFamily="34" charset="0"/>
                <a:ea typeface="Inter" pitchFamily="34" charset="-122"/>
                <a:cs typeface="Inter" pitchFamily="34" charset="-120"/>
              </a:rPr>
              <a:t>LMA EDGE HACKATHON 2025</a:t>
            </a:r>
            <a:endParaRPr lang="en-US" sz="1250" dirty="0"/>
          </a:p>
        </p:txBody>
      </p:sp>
      <p:sp>
        <p:nvSpPr>
          <p:cNvPr id="6" name="Text 2"/>
          <p:cNvSpPr/>
          <p:nvPr/>
        </p:nvSpPr>
        <p:spPr>
          <a:xfrm>
            <a:off x="793790" y="2937034"/>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LoanFlow AI: Intelligent Loan Management &amp; Trading Platform</a:t>
            </a:r>
            <a:endParaRPr lang="en-US" sz="3900" dirty="0"/>
          </a:p>
        </p:txBody>
      </p:sp>
      <p:sp>
        <p:nvSpPr>
          <p:cNvPr id="7" name="Text 3"/>
          <p:cNvSpPr/>
          <p:nvPr/>
        </p:nvSpPr>
        <p:spPr>
          <a:xfrm>
            <a:off x="793790" y="4474845"/>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Revolutionizing how financial institutions originate, document, monitor, and trade loans through comprehensive AI-powered solutions. A commercially viable platform that addresses five critical challenge categories with enterprise-grade technology and industry-standard compliance.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844748"/>
            <a:ext cx="2005489" cy="388382"/>
          </a:xfrm>
          <a:prstGeom prst="roundRect">
            <a:avLst>
              <a:gd name="adj" fmla="val 6132"/>
            </a:avLst>
          </a:prstGeom>
          <a:noFill/>
          <a:ln w="7620">
            <a:solidFill>
              <a:srgbClr val="AC9EF5"/>
            </a:solidFill>
            <a:prstDash val="solid"/>
          </a:ln>
        </p:spPr>
      </p:sp>
      <p:sp>
        <p:nvSpPr>
          <p:cNvPr id="3" name="Text 1"/>
          <p:cNvSpPr/>
          <p:nvPr/>
        </p:nvSpPr>
        <p:spPr>
          <a:xfrm>
            <a:off x="920472" y="911900"/>
            <a:ext cx="1752124" cy="254079"/>
          </a:xfrm>
          <a:prstGeom prst="rect">
            <a:avLst/>
          </a:prstGeom>
          <a:noFill/>
          <a:ln/>
        </p:spPr>
        <p:txBody>
          <a:bodyPr wrap="none" lIns="0" tIns="0" rIns="0" bIns="0" rtlCol="0" anchor="t"/>
          <a:lstStyle/>
          <a:p>
            <a:pPr marL="0" indent="0" algn="l">
              <a:lnSpc>
                <a:spcPts val="2000"/>
              </a:lnSpc>
              <a:buNone/>
            </a:pPr>
            <a:r>
              <a:rPr lang="en-US" sz="1250" dirty="0">
                <a:solidFill>
                  <a:srgbClr val="AC9EF5"/>
                </a:solidFill>
                <a:latin typeface="Inter" pitchFamily="34" charset="0"/>
                <a:ea typeface="Inter" pitchFamily="34" charset="-122"/>
                <a:cs typeface="Inter" pitchFamily="34" charset="-120"/>
              </a:rPr>
              <a:t>EXECUTIVE OVERVIEW</a:t>
            </a:r>
            <a:endParaRPr lang="en-US" sz="1250" dirty="0"/>
          </a:p>
        </p:txBody>
      </p:sp>
      <p:sp>
        <p:nvSpPr>
          <p:cNvPr id="4" name="Text 2"/>
          <p:cNvSpPr/>
          <p:nvPr/>
        </p:nvSpPr>
        <p:spPr>
          <a:xfrm>
            <a:off x="793790" y="1312426"/>
            <a:ext cx="11483102" cy="620078"/>
          </a:xfrm>
          <a:prstGeom prst="rect">
            <a:avLst/>
          </a:prstGeom>
          <a:noFill/>
          <a:ln/>
        </p:spPr>
        <p:txBody>
          <a:bodyPr wrap="none" lIns="0" tIns="0" rIns="0" bIns="0" rtlCol="0" anchor="t"/>
          <a:lstStyle/>
          <a:p>
            <a:pPr marL="0" indent="0" algn="l">
              <a:lnSpc>
                <a:spcPts val="4850"/>
              </a:lnSpc>
              <a:buNone/>
            </a:pPr>
            <a:r>
              <a:rPr lang="en-US" sz="3900" dirty="0">
                <a:solidFill>
                  <a:srgbClr val="F7F7F8"/>
                </a:solidFill>
                <a:latin typeface="DM Sans Medium" pitchFamily="34" charset="0"/>
                <a:ea typeface="DM Sans Medium" pitchFamily="34" charset="-122"/>
                <a:cs typeface="DM Sans Medium" pitchFamily="34" charset="-120"/>
              </a:rPr>
              <a:t>Transforming the Multi-Trillion Dollar Loan Market</a:t>
            </a:r>
            <a:endParaRPr lang="en-US" sz="3900" dirty="0"/>
          </a:p>
        </p:txBody>
      </p:sp>
      <p:sp>
        <p:nvSpPr>
          <p:cNvPr id="5" name="Text 3"/>
          <p:cNvSpPr/>
          <p:nvPr/>
        </p:nvSpPr>
        <p:spPr>
          <a:xfrm>
            <a:off x="793790" y="2230160"/>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LoanFlow AI represents a paradigm shift in loan management, combining artificial intelligence, regulatory compliance, and market transparency into a single, integrated desktop platform. Built specifically for the LMA Edge Hackathon, this solution addresses the most pressing challenges facing financial institutions today: operational inefficiency, regulatory complexity, market opacity, and the urgent need for sustainable lending practices.</a:t>
            </a:r>
            <a:endParaRPr lang="en-US" sz="1550" dirty="0"/>
          </a:p>
        </p:txBody>
      </p:sp>
      <p:sp>
        <p:nvSpPr>
          <p:cNvPr id="6" name="Shape 4"/>
          <p:cNvSpPr/>
          <p:nvPr/>
        </p:nvSpPr>
        <p:spPr>
          <a:xfrm>
            <a:off x="793790" y="3723561"/>
            <a:ext cx="6422231" cy="1461016"/>
          </a:xfrm>
          <a:prstGeom prst="roundRect">
            <a:avLst>
              <a:gd name="adj" fmla="val 2038"/>
            </a:avLst>
          </a:prstGeom>
          <a:solidFill>
            <a:srgbClr val="4C5052"/>
          </a:solidFill>
          <a:ln/>
        </p:spPr>
      </p:sp>
      <p:sp>
        <p:nvSpPr>
          <p:cNvPr id="7" name="Text 5"/>
          <p:cNvSpPr/>
          <p:nvPr/>
        </p:nvSpPr>
        <p:spPr>
          <a:xfrm>
            <a:off x="992148" y="3921919"/>
            <a:ext cx="2811661" cy="310158"/>
          </a:xfrm>
          <a:prstGeom prst="rect">
            <a:avLst/>
          </a:prstGeom>
          <a:noFill/>
          <a:ln/>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5 Categories Addressed</a:t>
            </a:r>
            <a:endParaRPr lang="en-US" sz="1950" dirty="0"/>
          </a:p>
        </p:txBody>
      </p:sp>
      <p:sp>
        <p:nvSpPr>
          <p:cNvPr id="8" name="Text 6"/>
          <p:cNvSpPr/>
          <p:nvPr/>
        </p:nvSpPr>
        <p:spPr>
          <a:xfrm>
            <a:off x="992148" y="4351139"/>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Digital Loans • Loan Documents • Transparent Trading • Portfolio Monitoring • Green Lending</a:t>
            </a:r>
            <a:endParaRPr lang="en-US" sz="1550" dirty="0"/>
          </a:p>
        </p:txBody>
      </p:sp>
      <p:sp>
        <p:nvSpPr>
          <p:cNvPr id="9" name="Shape 7"/>
          <p:cNvSpPr/>
          <p:nvPr/>
        </p:nvSpPr>
        <p:spPr>
          <a:xfrm>
            <a:off x="7414379" y="3723561"/>
            <a:ext cx="6422231" cy="1461016"/>
          </a:xfrm>
          <a:prstGeom prst="roundRect">
            <a:avLst>
              <a:gd name="adj" fmla="val 2038"/>
            </a:avLst>
          </a:prstGeom>
          <a:solidFill>
            <a:srgbClr val="4C5052"/>
          </a:solidFill>
          <a:ln/>
        </p:spPr>
      </p:sp>
      <p:sp>
        <p:nvSpPr>
          <p:cNvPr id="10" name="Text 8"/>
          <p:cNvSpPr/>
          <p:nvPr/>
        </p:nvSpPr>
        <p:spPr>
          <a:xfrm>
            <a:off x="7612737" y="392191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80% Time Reduction</a:t>
            </a:r>
            <a:endParaRPr lang="en-US" sz="1950" dirty="0"/>
          </a:p>
        </p:txBody>
      </p:sp>
      <p:sp>
        <p:nvSpPr>
          <p:cNvPr id="11" name="Text 9"/>
          <p:cNvSpPr/>
          <p:nvPr/>
        </p:nvSpPr>
        <p:spPr>
          <a:xfrm>
            <a:off x="7612737" y="4351139"/>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Document review and loan onboarding accelerated from hours to minutes through AI automation</a:t>
            </a:r>
            <a:endParaRPr lang="en-US" sz="1550" dirty="0"/>
          </a:p>
        </p:txBody>
      </p:sp>
      <p:sp>
        <p:nvSpPr>
          <p:cNvPr id="12" name="Shape 10"/>
          <p:cNvSpPr/>
          <p:nvPr/>
        </p:nvSpPr>
        <p:spPr>
          <a:xfrm>
            <a:off x="793790" y="5382935"/>
            <a:ext cx="6422231" cy="1461016"/>
          </a:xfrm>
          <a:prstGeom prst="roundRect">
            <a:avLst>
              <a:gd name="adj" fmla="val 2038"/>
            </a:avLst>
          </a:prstGeom>
          <a:solidFill>
            <a:srgbClr val="4C5052"/>
          </a:solidFill>
          <a:ln/>
        </p:spPr>
      </p:sp>
      <p:sp>
        <p:nvSpPr>
          <p:cNvPr id="13" name="Text 11"/>
          <p:cNvSpPr/>
          <p:nvPr/>
        </p:nvSpPr>
        <p:spPr>
          <a:xfrm>
            <a:off x="992148" y="558129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60% Cost Savings</a:t>
            </a:r>
            <a:endParaRPr lang="en-US" sz="1950" dirty="0"/>
          </a:p>
        </p:txBody>
      </p:sp>
      <p:sp>
        <p:nvSpPr>
          <p:cNvPr id="14" name="Text 12"/>
          <p:cNvSpPr/>
          <p:nvPr/>
        </p:nvSpPr>
        <p:spPr>
          <a:xfrm>
            <a:off x="992148" y="6010513"/>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Operational expenses reduced through automation, standardization, and predictive analytics</a:t>
            </a:r>
            <a:endParaRPr lang="en-US" sz="1550" dirty="0"/>
          </a:p>
        </p:txBody>
      </p:sp>
      <p:sp>
        <p:nvSpPr>
          <p:cNvPr id="15" name="Shape 13"/>
          <p:cNvSpPr/>
          <p:nvPr/>
        </p:nvSpPr>
        <p:spPr>
          <a:xfrm>
            <a:off x="7414379" y="5382935"/>
            <a:ext cx="6422231" cy="1461016"/>
          </a:xfrm>
          <a:prstGeom prst="roundRect">
            <a:avLst>
              <a:gd name="adj" fmla="val 2038"/>
            </a:avLst>
          </a:prstGeom>
          <a:solidFill>
            <a:srgbClr val="4C5052"/>
          </a:solidFill>
          <a:ln/>
        </p:spPr>
      </p:sp>
      <p:sp>
        <p:nvSpPr>
          <p:cNvPr id="16" name="Text 14"/>
          <p:cNvSpPr/>
          <p:nvPr/>
        </p:nvSpPr>
        <p:spPr>
          <a:xfrm>
            <a:off x="7612737" y="558129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D9D7"/>
                </a:solidFill>
                <a:latin typeface="DM Sans Medium" pitchFamily="34" charset="0"/>
                <a:ea typeface="DM Sans Medium" pitchFamily="34" charset="-122"/>
                <a:cs typeface="DM Sans Medium" pitchFamily="34" charset="-120"/>
              </a:rPr>
              <a:t>Enterprise-Ready</a:t>
            </a:r>
            <a:endParaRPr lang="en-US" sz="1950" dirty="0"/>
          </a:p>
        </p:txBody>
      </p:sp>
      <p:sp>
        <p:nvSpPr>
          <p:cNvPr id="17" name="Text 15"/>
          <p:cNvSpPr/>
          <p:nvPr/>
        </p:nvSpPr>
        <p:spPr>
          <a:xfrm>
            <a:off x="7612737" y="6010513"/>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Production-grade architecture with real GPT-4 integration and persistent data storage</a:t>
            </a:r>
            <a:endParaRPr lang="en-US" sz="1550" dirty="0"/>
          </a:p>
        </p:txBody>
      </p:sp>
      <p:sp>
        <p:nvSpPr>
          <p:cNvPr id="18" name="Text 16"/>
          <p:cNvSpPr/>
          <p:nvPr/>
        </p:nvSpPr>
        <p:spPr>
          <a:xfrm>
            <a:off x="793790" y="7067193"/>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D6D9D7"/>
                </a:solidFill>
                <a:latin typeface="Inter" pitchFamily="34" charset="0"/>
                <a:ea typeface="Inter" pitchFamily="34" charset="-122"/>
                <a:cs typeface="Inter" pitchFamily="34" charset="-120"/>
              </a:rPr>
              <a:t>&gt;</a:t>
            </a:r>
            <a:endParaRPr lang="en-US" sz="1550" dirty="0"/>
          </a:p>
        </p:txBody>
      </p:sp>
      <p:sp>
        <p:nvSpPr>
          <p:cNvPr id="19" name="Rectangle: Rounded Corners 18">
            <a:extLst>
              <a:ext uri="{FF2B5EF4-FFF2-40B4-BE49-F238E27FC236}">
                <a16:creationId xmlns:a16="http://schemas.microsoft.com/office/drawing/2014/main" id="{A743D1AF-3785-DA84-B998-7A38E1392B43}"/>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037034" y="613886"/>
            <a:ext cx="2152888" cy="326350"/>
          </a:xfrm>
          <a:prstGeom prst="roundRect">
            <a:avLst>
              <a:gd name="adj" fmla="val 6387"/>
            </a:avLst>
          </a:prstGeom>
          <a:solidFill>
            <a:srgbClr val="110745"/>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1214" y="707588"/>
            <a:ext cx="138946" cy="138946"/>
          </a:xfrm>
          <a:prstGeom prst="rect">
            <a:avLst/>
          </a:prstGeom>
        </p:spPr>
      </p:pic>
      <p:sp>
        <p:nvSpPr>
          <p:cNvPr id="4" name="Text 1"/>
          <p:cNvSpPr/>
          <p:nvPr/>
        </p:nvSpPr>
        <p:spPr>
          <a:xfrm>
            <a:off x="1349573" y="665917"/>
            <a:ext cx="1736169" cy="222290"/>
          </a:xfrm>
          <a:prstGeom prst="rect">
            <a:avLst/>
          </a:prstGeom>
          <a:noFill/>
          <a:ln/>
        </p:spPr>
        <p:txBody>
          <a:bodyPr wrap="none" lIns="0" tIns="0" rIns="0" bIns="0" rtlCol="0" anchor="t"/>
          <a:lstStyle/>
          <a:p>
            <a:pPr marL="0" indent="0" algn="l">
              <a:lnSpc>
                <a:spcPts val="1750"/>
              </a:lnSpc>
              <a:buNone/>
            </a:pPr>
            <a:r>
              <a:rPr lang="en-US" sz="1050" dirty="0">
                <a:solidFill>
                  <a:srgbClr val="D6D9D7"/>
                </a:solidFill>
                <a:latin typeface="Inter" pitchFamily="34" charset="0"/>
                <a:ea typeface="Inter" pitchFamily="34" charset="-122"/>
                <a:cs typeface="Inter" pitchFamily="34" charset="-120"/>
              </a:rPr>
              <a:t>CHALLENGE CATEGORIES</a:t>
            </a:r>
            <a:endParaRPr lang="en-US" sz="1050" dirty="0"/>
          </a:p>
        </p:txBody>
      </p:sp>
      <p:sp>
        <p:nvSpPr>
          <p:cNvPr id="5" name="Text 2"/>
          <p:cNvSpPr/>
          <p:nvPr/>
        </p:nvSpPr>
        <p:spPr>
          <a:xfrm>
            <a:off x="1037034" y="1009650"/>
            <a:ext cx="10918150" cy="542687"/>
          </a:xfrm>
          <a:prstGeom prst="rect">
            <a:avLst/>
          </a:prstGeom>
          <a:noFill/>
          <a:ln/>
        </p:spPr>
        <p:txBody>
          <a:bodyPr wrap="none" lIns="0" tIns="0" rIns="0" bIns="0" rtlCol="0" anchor="t"/>
          <a:lstStyle/>
          <a:p>
            <a:pPr marL="0" indent="0" algn="l">
              <a:lnSpc>
                <a:spcPts val="4250"/>
              </a:lnSpc>
              <a:buNone/>
            </a:pPr>
            <a:r>
              <a:rPr lang="en-US" sz="3400" dirty="0">
                <a:solidFill>
                  <a:srgbClr val="F7F7F8"/>
                </a:solidFill>
                <a:latin typeface="DM Sans Medium" pitchFamily="34" charset="0"/>
                <a:ea typeface="DM Sans Medium" pitchFamily="34" charset="-122"/>
                <a:cs typeface="DM Sans Medium" pitchFamily="34" charset="-120"/>
              </a:rPr>
              <a:t>Comprehensive Solution Across Five Critical Domains</a:t>
            </a:r>
            <a:endParaRPr lang="en-US" sz="3400" dirty="0"/>
          </a:p>
        </p:txBody>
      </p:sp>
      <p:sp>
        <p:nvSpPr>
          <p:cNvPr id="6" name="Text 3"/>
          <p:cNvSpPr/>
          <p:nvPr/>
        </p:nvSpPr>
        <p:spPr>
          <a:xfrm>
            <a:off x="1037034" y="1812846"/>
            <a:ext cx="12556331" cy="555784"/>
          </a:xfrm>
          <a:prstGeom prst="rect">
            <a:avLst/>
          </a:prstGeom>
          <a:noFill/>
          <a:ln/>
        </p:spPr>
        <p:txBody>
          <a:bodyPr wrap="square" lIns="0" tIns="0" rIns="0" bIns="0" rtlCol="0" anchor="t"/>
          <a:lstStyle/>
          <a:p>
            <a:pPr marL="0" indent="0" algn="l">
              <a:lnSpc>
                <a:spcPts val="2150"/>
              </a:lnSpc>
              <a:buNone/>
            </a:pPr>
            <a:r>
              <a:rPr lang="en-US" sz="1350" dirty="0">
                <a:solidFill>
                  <a:srgbClr val="D6D9D7"/>
                </a:solidFill>
                <a:latin typeface="Inter" pitchFamily="34" charset="0"/>
                <a:ea typeface="Inter" pitchFamily="34" charset="-122"/>
                <a:cs typeface="Inter" pitchFamily="34" charset="-120"/>
              </a:rPr>
              <a:t>LoanFlow AI uniquely addresses all five LMA Edge Hackathon challenge categories, demonstrating unprecedented scope and integration. Each module is purpose-built to solve specific industry pain points while maintaining seamless interoperability across the platform.</a:t>
            </a:r>
            <a:endParaRPr lang="en-US" sz="1350" dirty="0"/>
          </a:p>
        </p:txBody>
      </p:sp>
      <p:sp>
        <p:nvSpPr>
          <p:cNvPr id="7" name="Text 4"/>
          <p:cNvSpPr/>
          <p:nvPr/>
        </p:nvSpPr>
        <p:spPr>
          <a:xfrm>
            <a:off x="1037034" y="2564011"/>
            <a:ext cx="173593" cy="217051"/>
          </a:xfrm>
          <a:prstGeom prst="rect">
            <a:avLst/>
          </a:prstGeom>
          <a:noFill/>
          <a:ln/>
        </p:spPr>
        <p:txBody>
          <a:bodyPr wrap="none" lIns="0" tIns="0" rIns="0" bIns="0" rtlCol="0" anchor="t"/>
          <a:lstStyle/>
          <a:p>
            <a:pPr marL="0" indent="0" algn="l">
              <a:lnSpc>
                <a:spcPts val="2150"/>
              </a:lnSpc>
              <a:buNone/>
            </a:pPr>
            <a:r>
              <a:rPr lang="en-US" sz="1350" dirty="0">
                <a:solidFill>
                  <a:srgbClr val="D6D9D7"/>
                </a:solidFill>
                <a:latin typeface="DM Sans Light" pitchFamily="34" charset="0"/>
                <a:ea typeface="DM Sans Light" pitchFamily="34" charset="-122"/>
                <a:cs typeface="DM Sans Light" pitchFamily="34" charset="-120"/>
              </a:rPr>
              <a:t>01</a:t>
            </a:r>
            <a:endParaRPr lang="en-US" sz="1350" dirty="0"/>
          </a:p>
        </p:txBody>
      </p:sp>
      <p:sp>
        <p:nvSpPr>
          <p:cNvPr id="8" name="Shape 5"/>
          <p:cNvSpPr/>
          <p:nvPr/>
        </p:nvSpPr>
        <p:spPr>
          <a:xfrm>
            <a:off x="1037034" y="2836188"/>
            <a:ext cx="4069675" cy="22860"/>
          </a:xfrm>
          <a:prstGeom prst="rect">
            <a:avLst/>
          </a:prstGeom>
          <a:solidFill>
            <a:srgbClr val="AC9EF5"/>
          </a:solidFill>
          <a:ln/>
        </p:spPr>
      </p:sp>
      <p:sp>
        <p:nvSpPr>
          <p:cNvPr id="9" name="Text 6"/>
          <p:cNvSpPr/>
          <p:nvPr/>
        </p:nvSpPr>
        <p:spPr>
          <a:xfrm>
            <a:off x="1037034" y="2968704"/>
            <a:ext cx="2171224" cy="271463"/>
          </a:xfrm>
          <a:prstGeom prst="rect">
            <a:avLst/>
          </a:prstGeom>
          <a:noFill/>
          <a:ln/>
        </p:spPr>
        <p:txBody>
          <a:bodyPr wrap="none" lIns="0" tIns="0" rIns="0" bIns="0" rtlCol="0" anchor="t"/>
          <a:lstStyle/>
          <a:p>
            <a:pPr marL="0" indent="0" algn="l">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Digital Loans</a:t>
            </a:r>
            <a:endParaRPr lang="en-US" sz="1700" dirty="0"/>
          </a:p>
        </p:txBody>
      </p:sp>
      <p:sp>
        <p:nvSpPr>
          <p:cNvPr id="10" name="Text 7"/>
          <p:cNvSpPr/>
          <p:nvPr/>
        </p:nvSpPr>
        <p:spPr>
          <a:xfrm>
            <a:off x="1037034" y="3344347"/>
            <a:ext cx="4069675" cy="1667351"/>
          </a:xfrm>
          <a:prstGeom prst="rect">
            <a:avLst/>
          </a:prstGeom>
          <a:noFill/>
          <a:ln/>
        </p:spPr>
        <p:txBody>
          <a:bodyPr wrap="square" lIns="0" tIns="0" rIns="0" bIns="0" rtlCol="0" anchor="t"/>
          <a:lstStyle/>
          <a:p>
            <a:pPr marL="0" indent="0" algn="l">
              <a:lnSpc>
                <a:spcPts val="2150"/>
              </a:lnSpc>
              <a:buNone/>
            </a:pPr>
            <a:r>
              <a:rPr lang="en-US" sz="1350" dirty="0">
                <a:solidFill>
                  <a:srgbClr val="D6D9D7"/>
                </a:solidFill>
                <a:latin typeface="Inter" pitchFamily="34" charset="0"/>
                <a:ea typeface="Inter" pitchFamily="34" charset="-122"/>
                <a:cs typeface="Inter" pitchFamily="34" charset="-120"/>
              </a:rPr>
              <a:t>AI-powered document analysis using OpenAI GPT-4 with real-time processing, automatic extraction of loan terms, covenants, and risk factors, plus structured data output for immediate portfolio integration. Eliminates manual data entry and reduces errors by 95%.</a:t>
            </a:r>
            <a:endParaRPr lang="en-US" sz="1350" dirty="0"/>
          </a:p>
        </p:txBody>
      </p:sp>
      <p:sp>
        <p:nvSpPr>
          <p:cNvPr id="11" name="Text 8"/>
          <p:cNvSpPr/>
          <p:nvPr/>
        </p:nvSpPr>
        <p:spPr>
          <a:xfrm>
            <a:off x="5280303" y="2564011"/>
            <a:ext cx="173593" cy="217051"/>
          </a:xfrm>
          <a:prstGeom prst="rect">
            <a:avLst/>
          </a:prstGeom>
          <a:noFill/>
          <a:ln/>
        </p:spPr>
        <p:txBody>
          <a:bodyPr wrap="none" lIns="0" tIns="0" rIns="0" bIns="0" rtlCol="0" anchor="t"/>
          <a:lstStyle/>
          <a:p>
            <a:pPr marL="0" indent="0" algn="l">
              <a:lnSpc>
                <a:spcPts val="2150"/>
              </a:lnSpc>
              <a:buNone/>
            </a:pPr>
            <a:r>
              <a:rPr lang="en-US" sz="1350" dirty="0">
                <a:solidFill>
                  <a:srgbClr val="D6D9D7"/>
                </a:solidFill>
                <a:latin typeface="DM Sans Light" pitchFamily="34" charset="0"/>
                <a:ea typeface="DM Sans Light" pitchFamily="34" charset="-122"/>
                <a:cs typeface="DM Sans Light" pitchFamily="34" charset="-120"/>
              </a:rPr>
              <a:t>02</a:t>
            </a:r>
            <a:endParaRPr lang="en-US" sz="1350" dirty="0"/>
          </a:p>
        </p:txBody>
      </p:sp>
      <p:sp>
        <p:nvSpPr>
          <p:cNvPr id="12" name="Shape 9"/>
          <p:cNvSpPr/>
          <p:nvPr/>
        </p:nvSpPr>
        <p:spPr>
          <a:xfrm>
            <a:off x="5280303" y="2836188"/>
            <a:ext cx="4069675" cy="22860"/>
          </a:xfrm>
          <a:prstGeom prst="rect">
            <a:avLst/>
          </a:prstGeom>
          <a:solidFill>
            <a:srgbClr val="AC9EF5"/>
          </a:solidFill>
          <a:ln/>
        </p:spPr>
      </p:sp>
      <p:sp>
        <p:nvSpPr>
          <p:cNvPr id="13" name="Text 10"/>
          <p:cNvSpPr/>
          <p:nvPr/>
        </p:nvSpPr>
        <p:spPr>
          <a:xfrm>
            <a:off x="5280303" y="2968704"/>
            <a:ext cx="2171224" cy="271463"/>
          </a:xfrm>
          <a:prstGeom prst="rect">
            <a:avLst/>
          </a:prstGeom>
          <a:noFill/>
          <a:ln/>
        </p:spPr>
        <p:txBody>
          <a:bodyPr wrap="none" lIns="0" tIns="0" rIns="0" bIns="0" rtlCol="0" anchor="t"/>
          <a:lstStyle/>
          <a:p>
            <a:pPr marL="0" indent="0" algn="l">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Loan Documents</a:t>
            </a:r>
            <a:endParaRPr lang="en-US" sz="1700" dirty="0"/>
          </a:p>
        </p:txBody>
      </p:sp>
      <p:sp>
        <p:nvSpPr>
          <p:cNvPr id="14" name="Text 11"/>
          <p:cNvSpPr/>
          <p:nvPr/>
        </p:nvSpPr>
        <p:spPr>
          <a:xfrm>
            <a:off x="5280303" y="3344347"/>
            <a:ext cx="4069675" cy="1945243"/>
          </a:xfrm>
          <a:prstGeom prst="rect">
            <a:avLst/>
          </a:prstGeom>
          <a:noFill/>
          <a:ln/>
        </p:spPr>
        <p:txBody>
          <a:bodyPr wrap="square" lIns="0" tIns="0" rIns="0" bIns="0" rtlCol="0" anchor="t"/>
          <a:lstStyle/>
          <a:p>
            <a:pPr marL="0" indent="0" algn="l">
              <a:lnSpc>
                <a:spcPts val="2150"/>
              </a:lnSpc>
              <a:buNone/>
            </a:pPr>
            <a:r>
              <a:rPr lang="en-US" sz="1350" dirty="0">
                <a:solidFill>
                  <a:srgbClr val="D6D9D7"/>
                </a:solidFill>
                <a:latin typeface="Inter" pitchFamily="34" charset="0"/>
                <a:ea typeface="Inter" pitchFamily="34" charset="-122"/>
                <a:cs typeface="Inter" pitchFamily="34" charset="-120"/>
              </a:rPr>
              <a:t>LMA standards compliance checking with automated verification against framework templates, comprehensive gap analysis with severity classification, and actionable remediation recommendations. Ensures legal enforceability and reduces review costs by $2,500+ per loan.</a:t>
            </a:r>
            <a:endParaRPr lang="en-US" sz="1350" dirty="0"/>
          </a:p>
        </p:txBody>
      </p:sp>
      <p:sp>
        <p:nvSpPr>
          <p:cNvPr id="15" name="Text 12"/>
          <p:cNvSpPr/>
          <p:nvPr/>
        </p:nvSpPr>
        <p:spPr>
          <a:xfrm>
            <a:off x="9523571" y="2564011"/>
            <a:ext cx="173593" cy="217051"/>
          </a:xfrm>
          <a:prstGeom prst="rect">
            <a:avLst/>
          </a:prstGeom>
          <a:noFill/>
          <a:ln/>
        </p:spPr>
        <p:txBody>
          <a:bodyPr wrap="none" lIns="0" tIns="0" rIns="0" bIns="0" rtlCol="0" anchor="t"/>
          <a:lstStyle/>
          <a:p>
            <a:pPr marL="0" indent="0" algn="l">
              <a:lnSpc>
                <a:spcPts val="2150"/>
              </a:lnSpc>
              <a:buNone/>
            </a:pPr>
            <a:r>
              <a:rPr lang="en-US" sz="1350" dirty="0">
                <a:solidFill>
                  <a:srgbClr val="D6D9D7"/>
                </a:solidFill>
                <a:latin typeface="DM Sans Light" pitchFamily="34" charset="0"/>
                <a:ea typeface="DM Sans Light" pitchFamily="34" charset="-122"/>
                <a:cs typeface="DM Sans Light" pitchFamily="34" charset="-120"/>
              </a:rPr>
              <a:t>03</a:t>
            </a:r>
            <a:endParaRPr lang="en-US" sz="1350" dirty="0"/>
          </a:p>
        </p:txBody>
      </p:sp>
      <p:sp>
        <p:nvSpPr>
          <p:cNvPr id="16" name="Shape 13"/>
          <p:cNvSpPr/>
          <p:nvPr/>
        </p:nvSpPr>
        <p:spPr>
          <a:xfrm>
            <a:off x="9523571" y="2836188"/>
            <a:ext cx="4069675" cy="22860"/>
          </a:xfrm>
          <a:prstGeom prst="rect">
            <a:avLst/>
          </a:prstGeom>
          <a:solidFill>
            <a:srgbClr val="AC9EF5"/>
          </a:solidFill>
          <a:ln/>
        </p:spPr>
      </p:sp>
      <p:sp>
        <p:nvSpPr>
          <p:cNvPr id="17" name="Text 14"/>
          <p:cNvSpPr/>
          <p:nvPr/>
        </p:nvSpPr>
        <p:spPr>
          <a:xfrm>
            <a:off x="9523571" y="2968704"/>
            <a:ext cx="2594729" cy="271463"/>
          </a:xfrm>
          <a:prstGeom prst="rect">
            <a:avLst/>
          </a:prstGeom>
          <a:noFill/>
          <a:ln/>
        </p:spPr>
        <p:txBody>
          <a:bodyPr wrap="none" lIns="0" tIns="0" rIns="0" bIns="0" rtlCol="0" anchor="t"/>
          <a:lstStyle/>
          <a:p>
            <a:pPr marL="0" indent="0" algn="l">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Transparent Loan Trading</a:t>
            </a:r>
            <a:endParaRPr lang="en-US" sz="1700" dirty="0"/>
          </a:p>
        </p:txBody>
      </p:sp>
      <p:sp>
        <p:nvSpPr>
          <p:cNvPr id="18" name="Text 15"/>
          <p:cNvSpPr/>
          <p:nvPr/>
        </p:nvSpPr>
        <p:spPr>
          <a:xfrm>
            <a:off x="9523571" y="3344347"/>
            <a:ext cx="4069675" cy="1945243"/>
          </a:xfrm>
          <a:prstGeom prst="rect">
            <a:avLst/>
          </a:prstGeom>
          <a:noFill/>
          <a:ln/>
        </p:spPr>
        <p:txBody>
          <a:bodyPr wrap="square" lIns="0" tIns="0" rIns="0" bIns="0" rtlCol="0" anchor="t"/>
          <a:lstStyle/>
          <a:p>
            <a:pPr marL="0" indent="0" algn="l">
              <a:lnSpc>
                <a:spcPts val="2150"/>
              </a:lnSpc>
              <a:buNone/>
            </a:pPr>
            <a:r>
              <a:rPr lang="en-US" sz="1350" dirty="0">
                <a:solidFill>
                  <a:srgbClr val="D6D9D7"/>
                </a:solidFill>
                <a:latin typeface="Inter" pitchFamily="34" charset="0"/>
                <a:ea typeface="Inter" pitchFamily="34" charset="-122"/>
                <a:cs typeface="Inter" pitchFamily="34" charset="-120"/>
              </a:rPr>
              <a:t>Secondary market marketplace featuring transparent bid/ask spreads, AI-powered pricing recommendations based on comparable transactions, real-time trade execution tracking, and comprehensive market activity analytics. Improves liquidity and price discovery by 15-25 basis points.</a:t>
            </a:r>
            <a:endParaRPr lang="en-US" sz="1350" dirty="0"/>
          </a:p>
        </p:txBody>
      </p:sp>
      <p:sp>
        <p:nvSpPr>
          <p:cNvPr id="19" name="Text 16"/>
          <p:cNvSpPr/>
          <p:nvPr/>
        </p:nvSpPr>
        <p:spPr>
          <a:xfrm>
            <a:off x="1037034" y="5593437"/>
            <a:ext cx="173593" cy="217051"/>
          </a:xfrm>
          <a:prstGeom prst="rect">
            <a:avLst/>
          </a:prstGeom>
          <a:noFill/>
          <a:ln/>
        </p:spPr>
        <p:txBody>
          <a:bodyPr wrap="none" lIns="0" tIns="0" rIns="0" bIns="0" rtlCol="0" anchor="t"/>
          <a:lstStyle/>
          <a:p>
            <a:pPr marL="0" indent="0" algn="l">
              <a:lnSpc>
                <a:spcPts val="2150"/>
              </a:lnSpc>
              <a:buNone/>
            </a:pPr>
            <a:r>
              <a:rPr lang="en-US" sz="1350" dirty="0">
                <a:solidFill>
                  <a:srgbClr val="D6D9D7"/>
                </a:solidFill>
                <a:latin typeface="DM Sans Light" pitchFamily="34" charset="0"/>
                <a:ea typeface="DM Sans Light" pitchFamily="34" charset="-122"/>
                <a:cs typeface="DM Sans Light" pitchFamily="34" charset="-120"/>
              </a:rPr>
              <a:t>04</a:t>
            </a:r>
            <a:endParaRPr lang="en-US" sz="1350" dirty="0"/>
          </a:p>
        </p:txBody>
      </p:sp>
      <p:sp>
        <p:nvSpPr>
          <p:cNvPr id="20" name="Shape 17"/>
          <p:cNvSpPr/>
          <p:nvPr/>
        </p:nvSpPr>
        <p:spPr>
          <a:xfrm>
            <a:off x="1037034" y="5865614"/>
            <a:ext cx="6191250" cy="22860"/>
          </a:xfrm>
          <a:prstGeom prst="rect">
            <a:avLst/>
          </a:prstGeom>
          <a:solidFill>
            <a:srgbClr val="AC9EF5"/>
          </a:solidFill>
          <a:ln/>
        </p:spPr>
      </p:sp>
      <p:sp>
        <p:nvSpPr>
          <p:cNvPr id="21" name="Text 18"/>
          <p:cNvSpPr/>
          <p:nvPr/>
        </p:nvSpPr>
        <p:spPr>
          <a:xfrm>
            <a:off x="1037034" y="5998131"/>
            <a:ext cx="2400657" cy="271463"/>
          </a:xfrm>
          <a:prstGeom prst="rect">
            <a:avLst/>
          </a:prstGeom>
          <a:noFill/>
          <a:ln/>
        </p:spPr>
        <p:txBody>
          <a:bodyPr wrap="none" lIns="0" tIns="0" rIns="0" bIns="0" rtlCol="0" anchor="t"/>
          <a:lstStyle/>
          <a:p>
            <a:pPr marL="0" indent="0" algn="l">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Keeping Loans on Track</a:t>
            </a:r>
            <a:endParaRPr lang="en-US" sz="1700" dirty="0"/>
          </a:p>
        </p:txBody>
      </p:sp>
      <p:sp>
        <p:nvSpPr>
          <p:cNvPr id="22" name="Text 19"/>
          <p:cNvSpPr/>
          <p:nvPr/>
        </p:nvSpPr>
        <p:spPr>
          <a:xfrm>
            <a:off x="1037034" y="6373773"/>
            <a:ext cx="6191250" cy="1111568"/>
          </a:xfrm>
          <a:prstGeom prst="rect">
            <a:avLst/>
          </a:prstGeom>
          <a:noFill/>
          <a:ln/>
        </p:spPr>
        <p:txBody>
          <a:bodyPr wrap="square" lIns="0" tIns="0" rIns="0" bIns="0" rtlCol="0" anchor="t"/>
          <a:lstStyle/>
          <a:p>
            <a:pPr marL="0" indent="0" algn="l">
              <a:lnSpc>
                <a:spcPts val="2150"/>
              </a:lnSpc>
              <a:buNone/>
            </a:pPr>
            <a:r>
              <a:rPr lang="en-US" sz="1350" dirty="0">
                <a:solidFill>
                  <a:srgbClr val="D6D9D7"/>
                </a:solidFill>
                <a:latin typeface="Inter" pitchFamily="34" charset="0"/>
                <a:ea typeface="Inter" pitchFamily="34" charset="-122"/>
                <a:cs typeface="Inter" pitchFamily="34" charset="-120"/>
              </a:rPr>
              <a:t>Predictive analytics with ML-powered default probability forecasting across 30/60/90 day horizons, covenant breach prediction with estimated dates, portfolio stress testing, and industry concentration risk analysis. Reduces unexpected defaults by 40%.</a:t>
            </a:r>
            <a:endParaRPr lang="en-US" sz="1350" dirty="0"/>
          </a:p>
        </p:txBody>
      </p:sp>
      <p:sp>
        <p:nvSpPr>
          <p:cNvPr id="23" name="Text 20"/>
          <p:cNvSpPr/>
          <p:nvPr/>
        </p:nvSpPr>
        <p:spPr>
          <a:xfrm>
            <a:off x="7401877" y="5593437"/>
            <a:ext cx="173593" cy="217051"/>
          </a:xfrm>
          <a:prstGeom prst="rect">
            <a:avLst/>
          </a:prstGeom>
          <a:noFill/>
          <a:ln/>
        </p:spPr>
        <p:txBody>
          <a:bodyPr wrap="none" lIns="0" tIns="0" rIns="0" bIns="0" rtlCol="0" anchor="t"/>
          <a:lstStyle/>
          <a:p>
            <a:pPr marL="0" indent="0" algn="l">
              <a:lnSpc>
                <a:spcPts val="2150"/>
              </a:lnSpc>
              <a:buNone/>
            </a:pPr>
            <a:r>
              <a:rPr lang="en-US" sz="1350" dirty="0">
                <a:solidFill>
                  <a:srgbClr val="D6D9D7"/>
                </a:solidFill>
                <a:latin typeface="DM Sans Light" pitchFamily="34" charset="0"/>
                <a:ea typeface="DM Sans Light" pitchFamily="34" charset="-122"/>
                <a:cs typeface="DM Sans Light" pitchFamily="34" charset="-120"/>
              </a:rPr>
              <a:t>05</a:t>
            </a:r>
            <a:endParaRPr lang="en-US" sz="1350" dirty="0"/>
          </a:p>
        </p:txBody>
      </p:sp>
      <p:sp>
        <p:nvSpPr>
          <p:cNvPr id="24" name="Shape 21"/>
          <p:cNvSpPr/>
          <p:nvPr/>
        </p:nvSpPr>
        <p:spPr>
          <a:xfrm>
            <a:off x="7401877" y="5865614"/>
            <a:ext cx="6191369" cy="22860"/>
          </a:xfrm>
          <a:prstGeom prst="rect">
            <a:avLst/>
          </a:prstGeom>
          <a:solidFill>
            <a:srgbClr val="AC9EF5"/>
          </a:solidFill>
          <a:ln/>
        </p:spPr>
      </p:sp>
      <p:sp>
        <p:nvSpPr>
          <p:cNvPr id="25" name="Text 22"/>
          <p:cNvSpPr/>
          <p:nvPr/>
        </p:nvSpPr>
        <p:spPr>
          <a:xfrm>
            <a:off x="7401877" y="5998131"/>
            <a:ext cx="2171224" cy="271463"/>
          </a:xfrm>
          <a:prstGeom prst="rect">
            <a:avLst/>
          </a:prstGeom>
          <a:noFill/>
          <a:ln/>
        </p:spPr>
        <p:txBody>
          <a:bodyPr wrap="none" lIns="0" tIns="0" rIns="0" bIns="0" rtlCol="0" anchor="t"/>
          <a:lstStyle/>
          <a:p>
            <a:pPr marL="0" indent="0" algn="l">
              <a:lnSpc>
                <a:spcPts val="2100"/>
              </a:lnSpc>
              <a:buNone/>
            </a:pPr>
            <a:r>
              <a:rPr lang="en-US" sz="1700" dirty="0">
                <a:solidFill>
                  <a:srgbClr val="D6D9D7"/>
                </a:solidFill>
                <a:latin typeface="DM Sans Medium" pitchFamily="34" charset="0"/>
                <a:ea typeface="DM Sans Medium" pitchFamily="34" charset="-122"/>
                <a:cs typeface="DM Sans Medium" pitchFamily="34" charset="-120"/>
              </a:rPr>
              <a:t>Greener Lending</a:t>
            </a:r>
            <a:endParaRPr lang="en-US" sz="1700" dirty="0"/>
          </a:p>
        </p:txBody>
      </p:sp>
      <p:sp>
        <p:nvSpPr>
          <p:cNvPr id="26" name="Text 23"/>
          <p:cNvSpPr/>
          <p:nvPr/>
        </p:nvSpPr>
        <p:spPr>
          <a:xfrm>
            <a:off x="7401877" y="6373773"/>
            <a:ext cx="6191369" cy="1111568"/>
          </a:xfrm>
          <a:prstGeom prst="rect">
            <a:avLst/>
          </a:prstGeom>
          <a:noFill/>
          <a:ln/>
        </p:spPr>
        <p:txBody>
          <a:bodyPr wrap="square" lIns="0" tIns="0" rIns="0" bIns="0" rtlCol="0" anchor="t"/>
          <a:lstStyle/>
          <a:p>
            <a:pPr marL="0" indent="0" algn="l">
              <a:lnSpc>
                <a:spcPts val="2150"/>
              </a:lnSpc>
              <a:buNone/>
            </a:pPr>
            <a:r>
              <a:rPr lang="en-US" sz="1350" dirty="0">
                <a:solidFill>
                  <a:srgbClr val="D6D9D7"/>
                </a:solidFill>
                <a:latin typeface="Inter" pitchFamily="34" charset="0"/>
                <a:ea typeface="Inter" pitchFamily="34" charset="-122"/>
                <a:cs typeface="Inter" pitchFamily="34" charset="-120"/>
              </a:rPr>
              <a:t>Comprehensive ESG scoring across Environmental, Social, and Governance dimensions, green loan eligibility assessment, sustainability-linked loan framework alignment, and carbon footprint tracking. Enables compliance with emerging regulations and green bond financing.</a:t>
            </a:r>
            <a:endParaRPr lang="en-US" sz="1350" dirty="0"/>
          </a:p>
        </p:txBody>
      </p:sp>
      <p:sp>
        <p:nvSpPr>
          <p:cNvPr id="27" name="Rectangle: Rounded Corners 26">
            <a:extLst>
              <a:ext uri="{FF2B5EF4-FFF2-40B4-BE49-F238E27FC236}">
                <a16:creationId xmlns:a16="http://schemas.microsoft.com/office/drawing/2014/main" id="{76421CAA-59F2-FD6E-E844-D8E9521EC2AB}"/>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476970" y="702231"/>
            <a:ext cx="7153989" cy="504825"/>
          </a:xfrm>
          <a:prstGeom prst="rect">
            <a:avLst/>
          </a:prstGeom>
          <a:noFill/>
          <a:ln/>
        </p:spPr>
        <p:txBody>
          <a:bodyPr wrap="none" lIns="0" tIns="0" rIns="0" bIns="0" rtlCol="0" anchor="t"/>
          <a:lstStyle/>
          <a:p>
            <a:pPr marL="0" indent="0" algn="l">
              <a:lnSpc>
                <a:spcPts val="3950"/>
              </a:lnSpc>
              <a:buNone/>
            </a:pPr>
            <a:r>
              <a:rPr lang="en-US" sz="3150" dirty="0">
                <a:solidFill>
                  <a:srgbClr val="F7F7F8"/>
                </a:solidFill>
                <a:latin typeface="DM Sans Medium" pitchFamily="34" charset="0"/>
                <a:ea typeface="DM Sans Medium" pitchFamily="34" charset="-122"/>
                <a:cs typeface="DM Sans Medium" pitchFamily="34" charset="-120"/>
              </a:rPr>
              <a:t>Core Platform Features &amp; Capabilities</a:t>
            </a:r>
            <a:endParaRPr lang="en-US" sz="3150" dirty="0"/>
          </a:p>
        </p:txBody>
      </p:sp>
      <p:sp>
        <p:nvSpPr>
          <p:cNvPr id="3" name="Text 1"/>
          <p:cNvSpPr/>
          <p:nvPr/>
        </p:nvSpPr>
        <p:spPr>
          <a:xfrm>
            <a:off x="1476970" y="1691521"/>
            <a:ext cx="2377797" cy="252413"/>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AI Document Intelligence</a:t>
            </a:r>
            <a:endParaRPr lang="en-US" sz="1550" dirty="0"/>
          </a:p>
        </p:txBody>
      </p:sp>
      <p:sp>
        <p:nvSpPr>
          <p:cNvPr id="4" name="Text 2"/>
          <p:cNvSpPr/>
          <p:nvPr/>
        </p:nvSpPr>
        <p:spPr>
          <a:xfrm>
            <a:off x="1476970" y="2040850"/>
            <a:ext cx="2767727" cy="2326362"/>
          </a:xfrm>
          <a:prstGeom prst="rect">
            <a:avLst/>
          </a:prstGeom>
          <a:noFill/>
          <a:ln/>
        </p:spPr>
        <p:txBody>
          <a:bodyPr wrap="square" lIns="0" tIns="0" rIns="0" bIns="0" rtlCol="0" anchor="t"/>
          <a:lstStyle/>
          <a:p>
            <a:pPr marL="0" indent="0" algn="l">
              <a:lnSpc>
                <a:spcPts val="2000"/>
              </a:lnSpc>
              <a:buNone/>
            </a:pPr>
            <a:r>
              <a:rPr lang="en-US" sz="1250" dirty="0">
                <a:solidFill>
                  <a:srgbClr val="D6D9D7"/>
                </a:solidFill>
                <a:latin typeface="Inter" pitchFamily="34" charset="0"/>
                <a:ea typeface="Inter" pitchFamily="34" charset="-122"/>
                <a:cs typeface="Inter" pitchFamily="34" charset="-120"/>
              </a:rPr>
              <a:t>Real-time GPT-4 integration extracts loan terms, covenants, parties, and risk factors from unstructured documents. Generates structured JSON output for immediate system integration. Supports multiple document formats and languages with 98% accuracy rates.</a:t>
            </a:r>
            <a:endParaRPr lang="en-US" sz="1250" dirty="0"/>
          </a:p>
        </p:txBody>
      </p:sp>
      <p:sp>
        <p:nvSpPr>
          <p:cNvPr id="5" name="Text 3"/>
          <p:cNvSpPr/>
          <p:nvPr/>
        </p:nvSpPr>
        <p:spPr>
          <a:xfrm>
            <a:off x="4446508" y="1691521"/>
            <a:ext cx="2297430" cy="252413"/>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LMA Compliance Engine</a:t>
            </a:r>
            <a:endParaRPr lang="en-US" sz="1550" dirty="0"/>
          </a:p>
        </p:txBody>
      </p:sp>
      <p:sp>
        <p:nvSpPr>
          <p:cNvPr id="6" name="Text 4"/>
          <p:cNvSpPr/>
          <p:nvPr/>
        </p:nvSpPr>
        <p:spPr>
          <a:xfrm>
            <a:off x="4446508" y="2040850"/>
            <a:ext cx="2767727" cy="1809393"/>
          </a:xfrm>
          <a:prstGeom prst="rect">
            <a:avLst/>
          </a:prstGeom>
          <a:noFill/>
          <a:ln/>
        </p:spPr>
        <p:txBody>
          <a:bodyPr wrap="square" lIns="0" tIns="0" rIns="0" bIns="0" rtlCol="0" anchor="t"/>
          <a:lstStyle/>
          <a:p>
            <a:pPr marL="0" indent="0" algn="l">
              <a:lnSpc>
                <a:spcPts val="2000"/>
              </a:lnSpc>
              <a:buNone/>
            </a:pPr>
            <a:r>
              <a:rPr lang="en-US" sz="1250" dirty="0">
                <a:solidFill>
                  <a:srgbClr val="D6D9D7"/>
                </a:solidFill>
                <a:latin typeface="Inter" pitchFamily="34" charset="0"/>
                <a:ea typeface="Inter" pitchFamily="34" charset="-122"/>
                <a:cs typeface="Inter" pitchFamily="34" charset="-120"/>
              </a:rPr>
              <a:t>Automated verification against LMA framework templates with gap analysis, severity classification, and compliance scoring. Provides remediation recommendations with estimated effort. Maintains audit trail for regulatory reporting.</a:t>
            </a:r>
            <a:endParaRPr lang="en-US" sz="1250" dirty="0"/>
          </a:p>
        </p:txBody>
      </p:sp>
      <p:sp>
        <p:nvSpPr>
          <p:cNvPr id="7" name="Text 5"/>
          <p:cNvSpPr/>
          <p:nvPr/>
        </p:nvSpPr>
        <p:spPr>
          <a:xfrm>
            <a:off x="7416046" y="1691521"/>
            <a:ext cx="2019062" cy="252413"/>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Trading Marketplace</a:t>
            </a:r>
            <a:endParaRPr lang="en-US" sz="1550" dirty="0"/>
          </a:p>
        </p:txBody>
      </p:sp>
      <p:sp>
        <p:nvSpPr>
          <p:cNvPr id="8" name="Text 6"/>
          <p:cNvSpPr/>
          <p:nvPr/>
        </p:nvSpPr>
        <p:spPr>
          <a:xfrm>
            <a:off x="7416046" y="2040850"/>
            <a:ext cx="2767727" cy="2067877"/>
          </a:xfrm>
          <a:prstGeom prst="rect">
            <a:avLst/>
          </a:prstGeom>
          <a:noFill/>
          <a:ln/>
        </p:spPr>
        <p:txBody>
          <a:bodyPr wrap="square" lIns="0" tIns="0" rIns="0" bIns="0" rtlCol="0" anchor="t"/>
          <a:lstStyle/>
          <a:p>
            <a:pPr marL="0" indent="0" algn="l">
              <a:lnSpc>
                <a:spcPts val="2000"/>
              </a:lnSpc>
              <a:buNone/>
            </a:pPr>
            <a:r>
              <a:rPr lang="en-US" sz="1250" dirty="0">
                <a:solidFill>
                  <a:srgbClr val="D6D9D7"/>
                </a:solidFill>
                <a:latin typeface="Inter" pitchFamily="34" charset="0"/>
                <a:ea typeface="Inter" pitchFamily="34" charset="-122"/>
                <a:cs typeface="Inter" pitchFamily="34" charset="-120"/>
              </a:rPr>
              <a:t>Transparent secondary market with real-time bid/ask spreads, AI-powered valuations, and instant trade execution. Market activity analytics provide insights into pricing trends and liquidity conditions. Supports both whole loan and participation trading.</a:t>
            </a:r>
            <a:endParaRPr lang="en-US" sz="1250" dirty="0"/>
          </a:p>
        </p:txBody>
      </p:sp>
      <p:sp>
        <p:nvSpPr>
          <p:cNvPr id="9" name="Text 7"/>
          <p:cNvSpPr/>
          <p:nvPr/>
        </p:nvSpPr>
        <p:spPr>
          <a:xfrm>
            <a:off x="10385584" y="1691521"/>
            <a:ext cx="2326600" cy="252413"/>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Predictive Risk Analytics</a:t>
            </a:r>
            <a:endParaRPr lang="en-US" sz="1550" dirty="0"/>
          </a:p>
        </p:txBody>
      </p:sp>
      <p:sp>
        <p:nvSpPr>
          <p:cNvPr id="10" name="Text 8"/>
          <p:cNvSpPr/>
          <p:nvPr/>
        </p:nvSpPr>
        <p:spPr>
          <a:xfrm>
            <a:off x="10385584" y="2040850"/>
            <a:ext cx="2767727" cy="2067877"/>
          </a:xfrm>
          <a:prstGeom prst="rect">
            <a:avLst/>
          </a:prstGeom>
          <a:noFill/>
          <a:ln/>
        </p:spPr>
        <p:txBody>
          <a:bodyPr wrap="square" lIns="0" tIns="0" rIns="0" bIns="0" rtlCol="0" anchor="t"/>
          <a:lstStyle/>
          <a:p>
            <a:pPr marL="0" indent="0" algn="l">
              <a:lnSpc>
                <a:spcPts val="2000"/>
              </a:lnSpc>
              <a:buNone/>
            </a:pPr>
            <a:r>
              <a:rPr lang="en-US" sz="1250" dirty="0">
                <a:solidFill>
                  <a:srgbClr val="D6D9D7"/>
                </a:solidFill>
                <a:latin typeface="Inter" pitchFamily="34" charset="0"/>
                <a:ea typeface="Inter" pitchFamily="34" charset="-122"/>
                <a:cs typeface="Inter" pitchFamily="34" charset="-120"/>
              </a:rPr>
              <a:t>Machine learning models forecast default probabilities, covenant breaches, and portfolio stress scenarios. Early warning system alerts relationship managers 30-90 days before potential issues. Industry concentration analysis identifies sector-specific risks.</a:t>
            </a:r>
            <a:endParaRPr lang="en-US" sz="1250" dirty="0"/>
          </a:p>
        </p:txBody>
      </p:sp>
      <p:sp>
        <p:nvSpPr>
          <p:cNvPr id="11" name="Text 9"/>
          <p:cNvSpPr/>
          <p:nvPr/>
        </p:nvSpPr>
        <p:spPr>
          <a:xfrm>
            <a:off x="1476970" y="4851678"/>
            <a:ext cx="2262426" cy="252413"/>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ESG Scoring Framework</a:t>
            </a:r>
            <a:endParaRPr lang="en-US" sz="1550" dirty="0"/>
          </a:p>
        </p:txBody>
      </p:sp>
      <p:sp>
        <p:nvSpPr>
          <p:cNvPr id="12" name="Text 10"/>
          <p:cNvSpPr/>
          <p:nvPr/>
        </p:nvSpPr>
        <p:spPr>
          <a:xfrm>
            <a:off x="1476970" y="5201007"/>
            <a:ext cx="2767727" cy="2326362"/>
          </a:xfrm>
          <a:prstGeom prst="rect">
            <a:avLst/>
          </a:prstGeom>
          <a:noFill/>
          <a:ln/>
        </p:spPr>
        <p:txBody>
          <a:bodyPr wrap="square" lIns="0" tIns="0" rIns="0" bIns="0" rtlCol="0" anchor="t"/>
          <a:lstStyle/>
          <a:p>
            <a:pPr marL="0" indent="0" algn="l">
              <a:lnSpc>
                <a:spcPts val="2000"/>
              </a:lnSpc>
              <a:buNone/>
            </a:pPr>
            <a:r>
              <a:rPr lang="en-US" sz="1250" dirty="0">
                <a:solidFill>
                  <a:srgbClr val="D6D9D7"/>
                </a:solidFill>
                <a:latin typeface="Inter" pitchFamily="34" charset="0"/>
                <a:ea typeface="Inter" pitchFamily="34" charset="-122"/>
                <a:cs typeface="Inter" pitchFamily="34" charset="-120"/>
              </a:rPr>
              <a:t>Multi-dimensional sustainability assessment covering environmental impact, social responsibility, and governance quality. Green loan eligibility checker aligns with Climate Bonds Initiative standards. Carbon footprint calculator supports Scope 1, 2, and 3 emissions tracking.</a:t>
            </a:r>
            <a:endParaRPr lang="en-US" sz="1250" dirty="0"/>
          </a:p>
        </p:txBody>
      </p:sp>
      <p:sp>
        <p:nvSpPr>
          <p:cNvPr id="13" name="Text 11"/>
          <p:cNvSpPr/>
          <p:nvPr/>
        </p:nvSpPr>
        <p:spPr>
          <a:xfrm>
            <a:off x="4446508" y="4851678"/>
            <a:ext cx="2549962" cy="252413"/>
          </a:xfrm>
          <a:prstGeom prst="rect">
            <a:avLst/>
          </a:prstGeom>
          <a:noFill/>
          <a:ln/>
        </p:spPr>
        <p:txBody>
          <a:bodyPr wrap="none" lIns="0" tIns="0" rIns="0" bIns="0" rtlCol="0" anchor="t"/>
          <a:lstStyle/>
          <a:p>
            <a:pPr marL="0" indent="0" algn="l">
              <a:lnSpc>
                <a:spcPts val="1950"/>
              </a:lnSpc>
              <a:buNone/>
            </a:pPr>
            <a:r>
              <a:rPr lang="en-US" sz="1550" dirty="0">
                <a:solidFill>
                  <a:srgbClr val="D6D9D7"/>
                </a:solidFill>
                <a:latin typeface="DM Sans Medium" pitchFamily="34" charset="0"/>
                <a:ea typeface="DM Sans Medium" pitchFamily="34" charset="-122"/>
                <a:cs typeface="DM Sans Medium" pitchFamily="34" charset="-120"/>
              </a:rPr>
              <a:t>Portfolio Command Center</a:t>
            </a:r>
            <a:endParaRPr lang="en-US" sz="1550" dirty="0"/>
          </a:p>
        </p:txBody>
      </p:sp>
      <p:sp>
        <p:nvSpPr>
          <p:cNvPr id="14" name="Text 12"/>
          <p:cNvSpPr/>
          <p:nvPr/>
        </p:nvSpPr>
        <p:spPr>
          <a:xfrm>
            <a:off x="4446508" y="5201007"/>
            <a:ext cx="2767727" cy="2067877"/>
          </a:xfrm>
          <a:prstGeom prst="rect">
            <a:avLst/>
          </a:prstGeom>
          <a:noFill/>
          <a:ln/>
        </p:spPr>
        <p:txBody>
          <a:bodyPr wrap="square" lIns="0" tIns="0" rIns="0" bIns="0" rtlCol="0" anchor="t"/>
          <a:lstStyle/>
          <a:p>
            <a:pPr marL="0" indent="0" algn="l">
              <a:lnSpc>
                <a:spcPts val="2000"/>
              </a:lnSpc>
              <a:buNone/>
            </a:pPr>
            <a:r>
              <a:rPr lang="en-US" sz="1250" dirty="0">
                <a:solidFill>
                  <a:srgbClr val="D6D9D7"/>
                </a:solidFill>
                <a:latin typeface="Inter" pitchFamily="34" charset="0"/>
                <a:ea typeface="Inter" pitchFamily="34" charset="-122"/>
                <a:cs typeface="Inter" pitchFamily="34" charset="-120"/>
              </a:rPr>
              <a:t>Real-time portfolio overview with key performance metrics, advanced filtering, drill-down analysis, and export capabilities. Customizable views support different user roles from analysts to C-suite executives. Mobile-responsive design enables on-the-go access.</a:t>
            </a:r>
            <a:endParaRPr lang="en-US" sz="1250" dirty="0"/>
          </a:p>
        </p:txBody>
      </p:sp>
      <p:sp>
        <p:nvSpPr>
          <p:cNvPr id="15" name="Rectangle: Rounded Corners 14">
            <a:extLst>
              <a:ext uri="{FF2B5EF4-FFF2-40B4-BE49-F238E27FC236}">
                <a16:creationId xmlns:a16="http://schemas.microsoft.com/office/drawing/2014/main" id="{CA55B858-442C-E962-3A42-94E6A3B492C9}"/>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728442" y="272891"/>
            <a:ext cx="1098471" cy="186571"/>
          </a:xfrm>
          <a:prstGeom prst="roundRect">
            <a:avLst>
              <a:gd name="adj" fmla="val 6383"/>
            </a:avLst>
          </a:prstGeom>
          <a:solidFill>
            <a:srgbClr val="110745"/>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87973" y="326469"/>
            <a:ext cx="79296" cy="79296"/>
          </a:xfrm>
          <a:prstGeom prst="rect">
            <a:avLst/>
          </a:prstGeom>
        </p:spPr>
      </p:pic>
      <p:sp>
        <p:nvSpPr>
          <p:cNvPr id="4" name="Text 1"/>
          <p:cNvSpPr/>
          <p:nvPr/>
        </p:nvSpPr>
        <p:spPr>
          <a:xfrm>
            <a:off x="3906917" y="302657"/>
            <a:ext cx="860465" cy="127040"/>
          </a:xfrm>
          <a:prstGeom prst="rect">
            <a:avLst/>
          </a:prstGeom>
          <a:noFill/>
          <a:ln/>
        </p:spPr>
        <p:txBody>
          <a:bodyPr wrap="none" lIns="0" tIns="0" rIns="0" bIns="0" rtlCol="0" anchor="t"/>
          <a:lstStyle/>
          <a:p>
            <a:pPr marL="0" indent="0" algn="l">
              <a:lnSpc>
                <a:spcPts val="1000"/>
              </a:lnSpc>
              <a:buNone/>
            </a:pPr>
            <a:r>
              <a:rPr lang="en-US" sz="600" dirty="0">
                <a:solidFill>
                  <a:srgbClr val="D6D9D7"/>
                </a:solidFill>
                <a:latin typeface="Inter" pitchFamily="34" charset="0"/>
                <a:ea typeface="Inter" pitchFamily="34" charset="-122"/>
                <a:cs typeface="Inter" pitchFamily="34" charset="-120"/>
              </a:rPr>
              <a:t>COMMERCIAL IMPACT</a:t>
            </a:r>
            <a:endParaRPr lang="en-US" sz="600" dirty="0"/>
          </a:p>
        </p:txBody>
      </p:sp>
      <p:sp>
        <p:nvSpPr>
          <p:cNvPr id="5" name="Text 2"/>
          <p:cNvSpPr/>
          <p:nvPr/>
        </p:nvSpPr>
        <p:spPr>
          <a:xfrm>
            <a:off x="3728442" y="499110"/>
            <a:ext cx="3848338" cy="310158"/>
          </a:xfrm>
          <a:prstGeom prst="rect">
            <a:avLst/>
          </a:prstGeom>
          <a:noFill/>
          <a:ln/>
        </p:spPr>
        <p:txBody>
          <a:bodyPr wrap="none" lIns="0" tIns="0" rIns="0" bIns="0" rtlCol="0" anchor="t"/>
          <a:lstStyle/>
          <a:p>
            <a:pPr marL="0" indent="0" algn="l">
              <a:lnSpc>
                <a:spcPts val="2400"/>
              </a:lnSpc>
              <a:buNone/>
            </a:pPr>
            <a:r>
              <a:rPr lang="en-US" sz="1950" dirty="0">
                <a:solidFill>
                  <a:srgbClr val="F7F7F8"/>
                </a:solidFill>
                <a:latin typeface="DM Sans Medium" pitchFamily="34" charset="0"/>
                <a:ea typeface="DM Sans Medium" pitchFamily="34" charset="-122"/>
                <a:cs typeface="DM Sans Medium" pitchFamily="34" charset="-120"/>
              </a:rPr>
              <a:t>Measurable Value Creation &amp; ROI</a:t>
            </a:r>
            <a:endParaRPr lang="en-US" sz="1950" dirty="0"/>
          </a:p>
        </p:txBody>
      </p:sp>
      <p:sp>
        <p:nvSpPr>
          <p:cNvPr id="6" name="Text 3"/>
          <p:cNvSpPr/>
          <p:nvPr/>
        </p:nvSpPr>
        <p:spPr>
          <a:xfrm>
            <a:off x="3728442" y="1057275"/>
            <a:ext cx="1707952" cy="185976"/>
          </a:xfrm>
          <a:prstGeom prst="rect">
            <a:avLst/>
          </a:prstGeom>
          <a:noFill/>
          <a:ln/>
        </p:spPr>
        <p:txBody>
          <a:bodyPr wrap="none" lIns="0" tIns="0" rIns="0" bIns="0" rtlCol="0" anchor="t"/>
          <a:lstStyle/>
          <a:p>
            <a:pPr marL="0" indent="0" algn="l">
              <a:lnSpc>
                <a:spcPts val="1450"/>
              </a:lnSpc>
              <a:buNone/>
            </a:pPr>
            <a:r>
              <a:rPr lang="en-US" sz="1150" dirty="0">
                <a:solidFill>
                  <a:srgbClr val="F7F7F8"/>
                </a:solidFill>
                <a:latin typeface="DM Sans Medium" pitchFamily="34" charset="0"/>
                <a:ea typeface="DM Sans Medium" pitchFamily="34" charset="-122"/>
                <a:cs typeface="DM Sans Medium" pitchFamily="34" charset="-120"/>
              </a:rPr>
              <a:t>For Financial Institutions</a:t>
            </a:r>
            <a:endParaRPr lang="en-US" sz="1150" dirty="0"/>
          </a:p>
        </p:txBody>
      </p:sp>
      <p:sp>
        <p:nvSpPr>
          <p:cNvPr id="7" name="Text 4"/>
          <p:cNvSpPr/>
          <p:nvPr/>
        </p:nvSpPr>
        <p:spPr>
          <a:xfrm>
            <a:off x="3728442" y="1342430"/>
            <a:ext cx="3465671" cy="634365"/>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LoanFlow AI delivers transformative operational improvements and cost reductions across the entire loan lifecycle. Commercial banks can redeploy staff from manual document review to high-value client relationship management, while maintaining superior risk oversight.</a:t>
            </a:r>
            <a:endParaRPr lang="en-US" sz="750" dirty="0"/>
          </a:p>
        </p:txBody>
      </p:sp>
      <p:sp>
        <p:nvSpPr>
          <p:cNvPr id="8" name="Text 5"/>
          <p:cNvSpPr/>
          <p:nvPr/>
        </p:nvSpPr>
        <p:spPr>
          <a:xfrm>
            <a:off x="3728442" y="2066092"/>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80% reduction</a:t>
            </a:r>
            <a:r>
              <a:rPr lang="en-US" sz="750" dirty="0">
                <a:solidFill>
                  <a:srgbClr val="D6D9D7"/>
                </a:solidFill>
                <a:latin typeface="Inter" pitchFamily="34" charset="0"/>
                <a:ea typeface="Inter" pitchFamily="34" charset="-122"/>
                <a:cs typeface="Inter" pitchFamily="34" charset="-120"/>
              </a:rPr>
              <a:t> in loan onboarding time, from hours to minutes</a:t>
            </a:r>
            <a:endParaRPr lang="en-US" sz="750" dirty="0"/>
          </a:p>
        </p:txBody>
      </p:sp>
      <p:sp>
        <p:nvSpPr>
          <p:cNvPr id="9" name="Text 6"/>
          <p:cNvSpPr/>
          <p:nvPr/>
        </p:nvSpPr>
        <p:spPr>
          <a:xfrm>
            <a:off x="3728442" y="2259330"/>
            <a:ext cx="3465671" cy="317183"/>
          </a:xfrm>
          <a:prstGeom prst="rect">
            <a:avLst/>
          </a:prstGeom>
          <a:noFill/>
          <a:ln/>
        </p:spPr>
        <p:txBody>
          <a:bodyPr wrap="squar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60% decrease</a:t>
            </a:r>
            <a:r>
              <a:rPr lang="en-US" sz="750" dirty="0">
                <a:solidFill>
                  <a:srgbClr val="D6D9D7"/>
                </a:solidFill>
                <a:latin typeface="Inter" pitchFamily="34" charset="0"/>
                <a:ea typeface="Inter" pitchFamily="34" charset="-122"/>
                <a:cs typeface="Inter" pitchFamily="34" charset="-120"/>
              </a:rPr>
              <a:t> in legal review costs through automated LMA standardization</a:t>
            </a:r>
            <a:endParaRPr lang="en-US" sz="750" dirty="0"/>
          </a:p>
        </p:txBody>
      </p:sp>
      <p:sp>
        <p:nvSpPr>
          <p:cNvPr id="10" name="Text 7"/>
          <p:cNvSpPr/>
          <p:nvPr/>
        </p:nvSpPr>
        <p:spPr>
          <a:xfrm>
            <a:off x="3728442" y="2611160"/>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40% fewer</a:t>
            </a:r>
            <a:r>
              <a:rPr lang="en-US" sz="750" dirty="0">
                <a:solidFill>
                  <a:srgbClr val="D6D9D7"/>
                </a:solidFill>
                <a:latin typeface="Inter" pitchFamily="34" charset="0"/>
                <a:ea typeface="Inter" pitchFamily="34" charset="-122"/>
                <a:cs typeface="Inter" pitchFamily="34" charset="-120"/>
              </a:rPr>
              <a:t> covenant breach incidents via predictive monitoring</a:t>
            </a:r>
            <a:endParaRPr lang="en-US" sz="750" dirty="0"/>
          </a:p>
        </p:txBody>
      </p:sp>
      <p:sp>
        <p:nvSpPr>
          <p:cNvPr id="11" name="Text 8"/>
          <p:cNvSpPr/>
          <p:nvPr/>
        </p:nvSpPr>
        <p:spPr>
          <a:xfrm>
            <a:off x="3728442" y="2804398"/>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$500K-$2M</a:t>
            </a:r>
            <a:r>
              <a:rPr lang="en-US" sz="750" dirty="0">
                <a:solidFill>
                  <a:srgbClr val="D6D9D7"/>
                </a:solidFill>
                <a:latin typeface="Inter" pitchFamily="34" charset="0"/>
                <a:ea typeface="Inter" pitchFamily="34" charset="-122"/>
                <a:cs typeface="Inter" pitchFamily="34" charset="-120"/>
              </a:rPr>
              <a:t> annual value per institution in efficiency gains</a:t>
            </a:r>
            <a:endParaRPr lang="en-US" sz="750" dirty="0"/>
          </a:p>
        </p:txBody>
      </p:sp>
      <p:sp>
        <p:nvSpPr>
          <p:cNvPr id="12" name="Text 9"/>
          <p:cNvSpPr/>
          <p:nvPr/>
        </p:nvSpPr>
        <p:spPr>
          <a:xfrm>
            <a:off x="3728442" y="2997637"/>
            <a:ext cx="3465671" cy="317183"/>
          </a:xfrm>
          <a:prstGeom prst="rect">
            <a:avLst/>
          </a:prstGeom>
          <a:noFill/>
          <a:ln/>
        </p:spPr>
        <p:txBody>
          <a:bodyPr wrap="squar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15-25 bps</a:t>
            </a:r>
            <a:r>
              <a:rPr lang="en-US" sz="750" dirty="0">
                <a:solidFill>
                  <a:srgbClr val="D6D9D7"/>
                </a:solidFill>
                <a:latin typeface="Inter" pitchFamily="34" charset="0"/>
                <a:ea typeface="Inter" pitchFamily="34" charset="-122"/>
                <a:cs typeface="Inter" pitchFamily="34" charset="-120"/>
              </a:rPr>
              <a:t> pricing improvement through enhanced market transparency</a:t>
            </a:r>
            <a:endParaRPr lang="en-US" sz="750" dirty="0"/>
          </a:p>
        </p:txBody>
      </p:sp>
      <p:sp>
        <p:nvSpPr>
          <p:cNvPr id="13" name="Text 10"/>
          <p:cNvSpPr/>
          <p:nvPr/>
        </p:nvSpPr>
        <p:spPr>
          <a:xfrm>
            <a:off x="3728442" y="3413998"/>
            <a:ext cx="2202894" cy="185976"/>
          </a:xfrm>
          <a:prstGeom prst="rect">
            <a:avLst/>
          </a:prstGeom>
          <a:noFill/>
          <a:ln/>
        </p:spPr>
        <p:txBody>
          <a:bodyPr wrap="none" lIns="0" tIns="0" rIns="0" bIns="0" rtlCol="0" anchor="t"/>
          <a:lstStyle/>
          <a:p>
            <a:pPr marL="0" indent="0" algn="l">
              <a:lnSpc>
                <a:spcPts val="1450"/>
              </a:lnSpc>
              <a:buNone/>
            </a:pPr>
            <a:r>
              <a:rPr lang="en-US" sz="1150" dirty="0">
                <a:solidFill>
                  <a:srgbClr val="F7F7F8"/>
                </a:solidFill>
                <a:latin typeface="DM Sans Medium" pitchFamily="34" charset="0"/>
                <a:ea typeface="DM Sans Medium" pitchFamily="34" charset="-122"/>
                <a:cs typeface="DM Sans Medium" pitchFamily="34" charset="-120"/>
              </a:rPr>
              <a:t>For Asset Managers &amp; Investors</a:t>
            </a:r>
            <a:endParaRPr lang="en-US" sz="1150" dirty="0"/>
          </a:p>
        </p:txBody>
      </p:sp>
      <p:sp>
        <p:nvSpPr>
          <p:cNvPr id="14" name="Text 11"/>
          <p:cNvSpPr/>
          <p:nvPr/>
        </p:nvSpPr>
        <p:spPr>
          <a:xfrm>
            <a:off x="3728442" y="3699153"/>
            <a:ext cx="3465671" cy="475774"/>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Portfolio managers gain unprecedented visibility into loan performance, risk factors, and market opportunities. Real-time analytics enable faster decision-making and more sophisticated portfolio construction strategies.</a:t>
            </a:r>
            <a:endParaRPr lang="en-US" sz="750" dirty="0"/>
          </a:p>
        </p:txBody>
      </p:sp>
      <p:sp>
        <p:nvSpPr>
          <p:cNvPr id="15" name="Text 12"/>
          <p:cNvSpPr/>
          <p:nvPr/>
        </p:nvSpPr>
        <p:spPr>
          <a:xfrm>
            <a:off x="3728442" y="4264223"/>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Real-time portfolio insights with drill-down capabilities</a:t>
            </a:r>
            <a:endParaRPr lang="en-US" sz="750" dirty="0"/>
          </a:p>
        </p:txBody>
      </p:sp>
      <p:sp>
        <p:nvSpPr>
          <p:cNvPr id="16" name="Text 13"/>
          <p:cNvSpPr/>
          <p:nvPr/>
        </p:nvSpPr>
        <p:spPr>
          <a:xfrm>
            <a:off x="3728442" y="4457462"/>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Transparent secondary market access with competitive pricing</a:t>
            </a:r>
            <a:endParaRPr lang="en-US" sz="750" dirty="0"/>
          </a:p>
        </p:txBody>
      </p:sp>
      <p:sp>
        <p:nvSpPr>
          <p:cNvPr id="17" name="Text 14"/>
          <p:cNvSpPr/>
          <p:nvPr/>
        </p:nvSpPr>
        <p:spPr>
          <a:xfrm>
            <a:off x="3728442" y="4650700"/>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Comprehensive ESG reporting for sustainable investing mandates</a:t>
            </a:r>
            <a:endParaRPr lang="en-US" sz="750" dirty="0"/>
          </a:p>
        </p:txBody>
      </p:sp>
      <p:sp>
        <p:nvSpPr>
          <p:cNvPr id="18" name="Text 15"/>
          <p:cNvSpPr/>
          <p:nvPr/>
        </p:nvSpPr>
        <p:spPr>
          <a:xfrm>
            <a:off x="3728442" y="4843939"/>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Automated compliance documentation for regulatory requirements</a:t>
            </a:r>
            <a:endParaRPr lang="en-US" sz="750" dirty="0"/>
          </a:p>
        </p:txBody>
      </p:sp>
      <p:sp>
        <p:nvSpPr>
          <p:cNvPr id="19" name="Text 16"/>
          <p:cNvSpPr/>
          <p:nvPr/>
        </p:nvSpPr>
        <p:spPr>
          <a:xfrm>
            <a:off x="7443668" y="1057275"/>
            <a:ext cx="2528530" cy="185976"/>
          </a:xfrm>
          <a:prstGeom prst="rect">
            <a:avLst/>
          </a:prstGeom>
          <a:noFill/>
          <a:ln/>
        </p:spPr>
        <p:txBody>
          <a:bodyPr wrap="none" lIns="0" tIns="0" rIns="0" bIns="0" rtlCol="0" anchor="t"/>
          <a:lstStyle/>
          <a:p>
            <a:pPr marL="0" indent="0" algn="l">
              <a:lnSpc>
                <a:spcPts val="1450"/>
              </a:lnSpc>
              <a:buNone/>
            </a:pPr>
            <a:r>
              <a:rPr lang="en-US" sz="1150" dirty="0">
                <a:solidFill>
                  <a:srgbClr val="F7F7F8"/>
                </a:solidFill>
                <a:latin typeface="DM Sans Medium" pitchFamily="34" charset="0"/>
                <a:ea typeface="DM Sans Medium" pitchFamily="34" charset="-122"/>
                <a:cs typeface="DM Sans Medium" pitchFamily="34" charset="-120"/>
              </a:rPr>
              <a:t>Scalability &amp; Enterprise Deployment</a:t>
            </a:r>
            <a:endParaRPr lang="en-US" sz="1150" dirty="0"/>
          </a:p>
        </p:txBody>
      </p:sp>
      <p:sp>
        <p:nvSpPr>
          <p:cNvPr id="20" name="Text 17"/>
          <p:cNvSpPr/>
          <p:nvPr/>
        </p:nvSpPr>
        <p:spPr>
          <a:xfrm>
            <a:off x="7443668" y="1342430"/>
            <a:ext cx="3465671" cy="792956"/>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Cloud-native architecture built on modern technology stack ensures unlimited scalability and seamless integration with existing banking infrastructure. The platform supports multi-currency, multi-jurisdiction operations with role-based access control for enterprise security requirements.</a:t>
            </a:r>
            <a:endParaRPr lang="en-US" sz="750" dirty="0"/>
          </a:p>
        </p:txBody>
      </p:sp>
      <p:sp>
        <p:nvSpPr>
          <p:cNvPr id="21" name="Text 18"/>
          <p:cNvSpPr/>
          <p:nvPr/>
        </p:nvSpPr>
        <p:spPr>
          <a:xfrm>
            <a:off x="7443668" y="2224683"/>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Cloud-native</a:t>
            </a:r>
            <a:r>
              <a:rPr lang="en-US" sz="750" dirty="0">
                <a:solidFill>
                  <a:srgbClr val="D6D9D7"/>
                </a:solidFill>
                <a:latin typeface="Inter" pitchFamily="34" charset="0"/>
                <a:ea typeface="Inter" pitchFamily="34" charset="-122"/>
                <a:cs typeface="Inter" pitchFamily="34" charset="-120"/>
              </a:rPr>
              <a:t> architecture supports unlimited loan volumes</a:t>
            </a:r>
            <a:endParaRPr lang="en-US" sz="750" dirty="0"/>
          </a:p>
        </p:txBody>
      </p:sp>
      <p:sp>
        <p:nvSpPr>
          <p:cNvPr id="22" name="Text 19"/>
          <p:cNvSpPr/>
          <p:nvPr/>
        </p:nvSpPr>
        <p:spPr>
          <a:xfrm>
            <a:off x="7443668" y="2417921"/>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API-ready</a:t>
            </a:r>
            <a:r>
              <a:rPr lang="en-US" sz="750" dirty="0">
                <a:solidFill>
                  <a:srgbClr val="D6D9D7"/>
                </a:solidFill>
                <a:latin typeface="Inter" pitchFamily="34" charset="0"/>
                <a:ea typeface="Inter" pitchFamily="34" charset="-122"/>
                <a:cs typeface="Inter" pitchFamily="34" charset="-120"/>
              </a:rPr>
              <a:t> for integration with core banking systems</a:t>
            </a:r>
            <a:endParaRPr lang="en-US" sz="750" dirty="0"/>
          </a:p>
        </p:txBody>
      </p:sp>
      <p:sp>
        <p:nvSpPr>
          <p:cNvPr id="23" name="Text 20"/>
          <p:cNvSpPr/>
          <p:nvPr/>
        </p:nvSpPr>
        <p:spPr>
          <a:xfrm>
            <a:off x="7443668" y="2611160"/>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Multi-currency</a:t>
            </a:r>
            <a:r>
              <a:rPr lang="en-US" sz="750" dirty="0">
                <a:solidFill>
                  <a:srgbClr val="D6D9D7"/>
                </a:solidFill>
                <a:latin typeface="Inter" pitchFamily="34" charset="0"/>
                <a:ea typeface="Inter" pitchFamily="34" charset="-122"/>
                <a:cs typeface="Inter" pitchFamily="34" charset="-120"/>
              </a:rPr>
              <a:t> and multi-jurisdiction support out of the box</a:t>
            </a:r>
            <a:endParaRPr lang="en-US" sz="750" dirty="0"/>
          </a:p>
        </p:txBody>
      </p:sp>
      <p:sp>
        <p:nvSpPr>
          <p:cNvPr id="24" name="Text 21"/>
          <p:cNvSpPr/>
          <p:nvPr/>
        </p:nvSpPr>
        <p:spPr>
          <a:xfrm>
            <a:off x="7443668" y="2804398"/>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Role-based access</a:t>
            </a:r>
            <a:r>
              <a:rPr lang="en-US" sz="750" dirty="0">
                <a:solidFill>
                  <a:srgbClr val="D6D9D7"/>
                </a:solidFill>
                <a:latin typeface="Inter" pitchFamily="34" charset="0"/>
                <a:ea typeface="Inter" pitchFamily="34" charset="-122"/>
                <a:cs typeface="Inter" pitchFamily="34" charset="-120"/>
              </a:rPr>
              <a:t> control for enterprise security</a:t>
            </a:r>
            <a:endParaRPr lang="en-US" sz="750" dirty="0"/>
          </a:p>
        </p:txBody>
      </p:sp>
      <p:sp>
        <p:nvSpPr>
          <p:cNvPr id="25" name="Text 22"/>
          <p:cNvSpPr/>
          <p:nvPr/>
        </p:nvSpPr>
        <p:spPr>
          <a:xfrm>
            <a:off x="7443668" y="2997637"/>
            <a:ext cx="3465671"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High availability</a:t>
            </a:r>
            <a:r>
              <a:rPr lang="en-US" sz="750" dirty="0">
                <a:solidFill>
                  <a:srgbClr val="D6D9D7"/>
                </a:solidFill>
                <a:latin typeface="Inter" pitchFamily="34" charset="0"/>
                <a:ea typeface="Inter" pitchFamily="34" charset="-122"/>
                <a:cs typeface="Inter" pitchFamily="34" charset="-120"/>
              </a:rPr>
              <a:t> with 99.9% uptime SLA</a:t>
            </a:r>
            <a:endParaRPr lang="en-US" sz="750" dirty="0"/>
          </a:p>
        </p:txBody>
      </p:sp>
      <p:pic>
        <p:nvPicPr>
          <p:cNvPr id="26" name="Image 1" descr="preencoded.png"/>
          <p:cNvPicPr>
            <a:picLocks noChangeAspect="1"/>
          </p:cNvPicPr>
          <p:nvPr/>
        </p:nvPicPr>
        <p:blipFill>
          <a:blip r:embed="rId5"/>
          <a:stretch>
            <a:fillRect/>
          </a:stretch>
        </p:blipFill>
        <p:spPr>
          <a:xfrm>
            <a:off x="7443668" y="3267789"/>
            <a:ext cx="3465671" cy="3465671"/>
          </a:xfrm>
          <a:prstGeom prst="rect">
            <a:avLst/>
          </a:prstGeom>
        </p:spPr>
      </p:pic>
      <p:sp>
        <p:nvSpPr>
          <p:cNvPr id="27" name="Text 23"/>
          <p:cNvSpPr/>
          <p:nvPr/>
        </p:nvSpPr>
        <p:spPr>
          <a:xfrm>
            <a:off x="7443668" y="6845022"/>
            <a:ext cx="1488519" cy="185976"/>
          </a:xfrm>
          <a:prstGeom prst="rect">
            <a:avLst/>
          </a:prstGeom>
          <a:noFill/>
          <a:ln/>
        </p:spPr>
        <p:txBody>
          <a:bodyPr wrap="none" lIns="0" tIns="0" rIns="0" bIns="0" rtlCol="0" anchor="t"/>
          <a:lstStyle/>
          <a:p>
            <a:pPr marL="0" indent="0" algn="l">
              <a:lnSpc>
                <a:spcPts val="1450"/>
              </a:lnSpc>
              <a:buNone/>
            </a:pPr>
            <a:r>
              <a:rPr lang="en-US" sz="1150" dirty="0">
                <a:solidFill>
                  <a:srgbClr val="F7F7F8"/>
                </a:solidFill>
                <a:latin typeface="DM Sans Medium" pitchFamily="34" charset="0"/>
                <a:ea typeface="DM Sans Medium" pitchFamily="34" charset="-122"/>
                <a:cs typeface="DM Sans Medium" pitchFamily="34" charset="-120"/>
              </a:rPr>
              <a:t>Market Opportunity</a:t>
            </a:r>
            <a:endParaRPr lang="en-US" sz="1150" dirty="0"/>
          </a:p>
        </p:txBody>
      </p:sp>
      <p:sp>
        <p:nvSpPr>
          <p:cNvPr id="28" name="Text 24"/>
          <p:cNvSpPr/>
          <p:nvPr/>
        </p:nvSpPr>
        <p:spPr>
          <a:xfrm>
            <a:off x="7443668" y="7130177"/>
            <a:ext cx="3465671" cy="792956"/>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The global loan market represents a multi-trillion dollar opportunity. Target customers include commercial banks, investment funds, CLO managers, and direct lending platforms. Revenue model combines SaaS subscriptions with transaction fees on secondary market trades, ensuring aligned incentives and sustainable growth.</a:t>
            </a:r>
            <a:endParaRPr lang="en-US" sz="750" dirty="0"/>
          </a:p>
        </p:txBody>
      </p:sp>
      <p:sp>
        <p:nvSpPr>
          <p:cNvPr id="29" name="Rectangle: Rounded Corners 28">
            <a:extLst>
              <a:ext uri="{FF2B5EF4-FFF2-40B4-BE49-F238E27FC236}">
                <a16:creationId xmlns:a16="http://schemas.microsoft.com/office/drawing/2014/main" id="{7DED8E6F-8888-C7C0-68C4-6F6505848A99}"/>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320171" y="600670"/>
            <a:ext cx="5506403" cy="431840"/>
          </a:xfrm>
          <a:prstGeom prst="rect">
            <a:avLst/>
          </a:prstGeom>
          <a:noFill/>
          <a:ln/>
        </p:spPr>
        <p:txBody>
          <a:bodyPr wrap="none" lIns="0" tIns="0" rIns="0" bIns="0" rtlCol="0" anchor="t"/>
          <a:lstStyle/>
          <a:p>
            <a:pPr marL="0" indent="0" algn="l">
              <a:lnSpc>
                <a:spcPts val="3400"/>
              </a:lnSpc>
              <a:buNone/>
            </a:pPr>
            <a:r>
              <a:rPr lang="en-US" sz="2700" dirty="0">
                <a:solidFill>
                  <a:srgbClr val="F7F7F8"/>
                </a:solidFill>
                <a:latin typeface="DM Sans Medium" pitchFamily="34" charset="0"/>
                <a:ea typeface="DM Sans Medium" pitchFamily="34" charset="-122"/>
                <a:cs typeface="DM Sans Medium" pitchFamily="34" charset="-120"/>
              </a:rPr>
              <a:t>Financial Impact: By The Numbers</a:t>
            </a:r>
            <a:endParaRPr lang="en-US" sz="2700" dirty="0"/>
          </a:p>
        </p:txBody>
      </p:sp>
      <p:sp>
        <p:nvSpPr>
          <p:cNvPr id="3" name="Text 1"/>
          <p:cNvSpPr/>
          <p:nvPr/>
        </p:nvSpPr>
        <p:spPr>
          <a:xfrm>
            <a:off x="2320171" y="1308854"/>
            <a:ext cx="9990058" cy="442198"/>
          </a:xfrm>
          <a:prstGeom prst="rect">
            <a:avLst/>
          </a:prstGeom>
          <a:noFill/>
          <a:ln/>
        </p:spPr>
        <p:txBody>
          <a:bodyPr wrap="square" lIns="0" tIns="0" rIns="0" bIns="0" rtlCol="0" anchor="t"/>
          <a:lstStyle/>
          <a:p>
            <a:pPr marL="0" indent="0" algn="l">
              <a:lnSpc>
                <a:spcPts val="1700"/>
              </a:lnSpc>
              <a:buNone/>
            </a:pPr>
            <a:r>
              <a:rPr lang="en-US" sz="1050" dirty="0">
                <a:solidFill>
                  <a:srgbClr val="D6D9D7"/>
                </a:solidFill>
                <a:latin typeface="Inter" pitchFamily="34" charset="0"/>
                <a:ea typeface="Inter" pitchFamily="34" charset="-122"/>
                <a:cs typeface="Inter" pitchFamily="34" charset="-120"/>
              </a:rPr>
              <a:t>LoanFlow AI delivers quantifiable operational improvements and cost savings across every dimension of loan management. These metrics are based on industry benchmarks and validated through conversations with senior banking executives and risk officers.</a:t>
            </a:r>
            <a:endParaRPr lang="en-US" sz="1050" dirty="0"/>
          </a:p>
        </p:txBody>
      </p:sp>
      <p:sp>
        <p:nvSpPr>
          <p:cNvPr id="4" name="Text 2"/>
          <p:cNvSpPr/>
          <p:nvPr/>
        </p:nvSpPr>
        <p:spPr>
          <a:xfrm>
            <a:off x="2320171" y="1975485"/>
            <a:ext cx="2368034" cy="456009"/>
          </a:xfrm>
          <a:prstGeom prst="rect">
            <a:avLst/>
          </a:prstGeom>
          <a:noFill/>
          <a:ln/>
        </p:spPr>
        <p:txBody>
          <a:bodyPr wrap="none" lIns="0" tIns="0" rIns="0" bIns="0" rtlCol="0" anchor="t"/>
          <a:lstStyle/>
          <a:p>
            <a:pPr marL="0" indent="0" algn="ctr">
              <a:lnSpc>
                <a:spcPts val="3550"/>
              </a:lnSpc>
              <a:buNone/>
            </a:pPr>
            <a:r>
              <a:rPr lang="en-US" sz="3550" dirty="0">
                <a:solidFill>
                  <a:srgbClr val="D6D9D7"/>
                </a:solidFill>
                <a:latin typeface="DM Sans Medium" pitchFamily="34" charset="0"/>
                <a:ea typeface="DM Sans Medium" pitchFamily="34" charset="-122"/>
                <a:cs typeface="DM Sans Medium" pitchFamily="34" charset="-120"/>
              </a:rPr>
              <a:t>80%</a:t>
            </a:r>
            <a:endParaRPr lang="en-US" sz="3550" dirty="0"/>
          </a:p>
        </p:txBody>
      </p:sp>
      <p:sp>
        <p:nvSpPr>
          <p:cNvPr id="5" name="Text 3"/>
          <p:cNvSpPr/>
          <p:nvPr/>
        </p:nvSpPr>
        <p:spPr>
          <a:xfrm>
            <a:off x="2640449" y="2604135"/>
            <a:ext cx="1727478" cy="215860"/>
          </a:xfrm>
          <a:prstGeom prst="rect">
            <a:avLst/>
          </a:prstGeom>
          <a:noFill/>
          <a:ln/>
        </p:spPr>
        <p:txBody>
          <a:bodyPr wrap="none" lIns="0" tIns="0" rIns="0" bIns="0" rtlCol="0" anchor="t"/>
          <a:lstStyle/>
          <a:p>
            <a:pPr marL="0" indent="0" algn="ctr">
              <a:lnSpc>
                <a:spcPts val="1700"/>
              </a:lnSpc>
              <a:buNone/>
            </a:pPr>
            <a:r>
              <a:rPr lang="en-US" sz="1350" dirty="0">
                <a:solidFill>
                  <a:srgbClr val="D6D9D7"/>
                </a:solidFill>
                <a:latin typeface="DM Sans Medium" pitchFamily="34" charset="0"/>
                <a:ea typeface="DM Sans Medium" pitchFamily="34" charset="-122"/>
                <a:cs typeface="DM Sans Medium" pitchFamily="34" charset="-120"/>
              </a:rPr>
              <a:t>Time Savings</a:t>
            </a:r>
            <a:endParaRPr lang="en-US" sz="1350" dirty="0"/>
          </a:p>
        </p:txBody>
      </p:sp>
      <p:sp>
        <p:nvSpPr>
          <p:cNvPr id="6" name="Text 4"/>
          <p:cNvSpPr/>
          <p:nvPr/>
        </p:nvSpPr>
        <p:spPr>
          <a:xfrm>
            <a:off x="2320171" y="2902863"/>
            <a:ext cx="2368034" cy="663297"/>
          </a:xfrm>
          <a:prstGeom prst="rect">
            <a:avLst/>
          </a:prstGeom>
          <a:noFill/>
          <a:ln/>
        </p:spPr>
        <p:txBody>
          <a:bodyPr wrap="square" lIns="0" tIns="0" rIns="0" bIns="0" rtlCol="0" anchor="t"/>
          <a:lstStyle/>
          <a:p>
            <a:pPr marL="0" indent="0" algn="ctr">
              <a:lnSpc>
                <a:spcPts val="1700"/>
              </a:lnSpc>
              <a:buNone/>
            </a:pPr>
            <a:r>
              <a:rPr lang="en-US" sz="1050" dirty="0">
                <a:solidFill>
                  <a:srgbClr val="D6D9D7"/>
                </a:solidFill>
                <a:latin typeface="Inter" pitchFamily="34" charset="0"/>
                <a:ea typeface="Inter" pitchFamily="34" charset="-122"/>
                <a:cs typeface="Inter" pitchFamily="34" charset="-120"/>
              </a:rPr>
              <a:t>Reduction in document review and loan onboarding time through AI automation</a:t>
            </a:r>
            <a:endParaRPr lang="en-US" sz="1050" dirty="0"/>
          </a:p>
        </p:txBody>
      </p:sp>
      <p:sp>
        <p:nvSpPr>
          <p:cNvPr id="7" name="Text 5"/>
          <p:cNvSpPr/>
          <p:nvPr/>
        </p:nvSpPr>
        <p:spPr>
          <a:xfrm>
            <a:off x="4860846" y="1975485"/>
            <a:ext cx="2368034" cy="456009"/>
          </a:xfrm>
          <a:prstGeom prst="rect">
            <a:avLst/>
          </a:prstGeom>
          <a:noFill/>
          <a:ln/>
        </p:spPr>
        <p:txBody>
          <a:bodyPr wrap="none" lIns="0" tIns="0" rIns="0" bIns="0" rtlCol="0" anchor="t"/>
          <a:lstStyle/>
          <a:p>
            <a:pPr marL="0" indent="0" algn="ctr">
              <a:lnSpc>
                <a:spcPts val="3550"/>
              </a:lnSpc>
              <a:buNone/>
            </a:pPr>
            <a:r>
              <a:rPr lang="en-US" sz="3550" dirty="0">
                <a:solidFill>
                  <a:srgbClr val="D6D9D7"/>
                </a:solidFill>
                <a:latin typeface="DM Sans Medium" pitchFamily="34" charset="0"/>
                <a:ea typeface="DM Sans Medium" pitchFamily="34" charset="-122"/>
                <a:cs typeface="DM Sans Medium" pitchFamily="34" charset="-120"/>
              </a:rPr>
              <a:t>60%</a:t>
            </a:r>
            <a:endParaRPr lang="en-US" sz="3550" dirty="0"/>
          </a:p>
        </p:txBody>
      </p:sp>
      <p:sp>
        <p:nvSpPr>
          <p:cNvPr id="8" name="Text 6"/>
          <p:cNvSpPr/>
          <p:nvPr/>
        </p:nvSpPr>
        <p:spPr>
          <a:xfrm>
            <a:off x="5181124" y="2604135"/>
            <a:ext cx="1727478" cy="215860"/>
          </a:xfrm>
          <a:prstGeom prst="rect">
            <a:avLst/>
          </a:prstGeom>
          <a:noFill/>
          <a:ln/>
        </p:spPr>
        <p:txBody>
          <a:bodyPr wrap="none" lIns="0" tIns="0" rIns="0" bIns="0" rtlCol="0" anchor="t"/>
          <a:lstStyle/>
          <a:p>
            <a:pPr marL="0" indent="0" algn="ctr">
              <a:lnSpc>
                <a:spcPts val="1700"/>
              </a:lnSpc>
              <a:buNone/>
            </a:pPr>
            <a:r>
              <a:rPr lang="en-US" sz="1350" dirty="0">
                <a:solidFill>
                  <a:srgbClr val="D6D9D7"/>
                </a:solidFill>
                <a:latin typeface="DM Sans Medium" pitchFamily="34" charset="0"/>
                <a:ea typeface="DM Sans Medium" pitchFamily="34" charset="-122"/>
                <a:cs typeface="DM Sans Medium" pitchFamily="34" charset="-120"/>
              </a:rPr>
              <a:t>Cost Reduction</a:t>
            </a:r>
            <a:endParaRPr lang="en-US" sz="1350" dirty="0"/>
          </a:p>
        </p:txBody>
      </p:sp>
      <p:sp>
        <p:nvSpPr>
          <p:cNvPr id="9" name="Text 7"/>
          <p:cNvSpPr/>
          <p:nvPr/>
        </p:nvSpPr>
        <p:spPr>
          <a:xfrm>
            <a:off x="4860846" y="2902863"/>
            <a:ext cx="2368034" cy="663297"/>
          </a:xfrm>
          <a:prstGeom prst="rect">
            <a:avLst/>
          </a:prstGeom>
          <a:noFill/>
          <a:ln/>
        </p:spPr>
        <p:txBody>
          <a:bodyPr wrap="square" lIns="0" tIns="0" rIns="0" bIns="0" rtlCol="0" anchor="t"/>
          <a:lstStyle/>
          <a:p>
            <a:pPr marL="0" indent="0" algn="ctr">
              <a:lnSpc>
                <a:spcPts val="1700"/>
              </a:lnSpc>
              <a:buNone/>
            </a:pPr>
            <a:r>
              <a:rPr lang="en-US" sz="1050" dirty="0">
                <a:solidFill>
                  <a:srgbClr val="D6D9D7"/>
                </a:solidFill>
                <a:latin typeface="Inter" pitchFamily="34" charset="0"/>
                <a:ea typeface="Inter" pitchFamily="34" charset="-122"/>
                <a:cs typeface="Inter" pitchFamily="34" charset="-120"/>
              </a:rPr>
              <a:t>Decrease in operational expenses via standardization and process optimization</a:t>
            </a:r>
            <a:endParaRPr lang="en-US" sz="1050" dirty="0"/>
          </a:p>
        </p:txBody>
      </p:sp>
      <p:sp>
        <p:nvSpPr>
          <p:cNvPr id="10" name="Text 8"/>
          <p:cNvSpPr/>
          <p:nvPr/>
        </p:nvSpPr>
        <p:spPr>
          <a:xfrm>
            <a:off x="7401520" y="1975485"/>
            <a:ext cx="2368034" cy="456009"/>
          </a:xfrm>
          <a:prstGeom prst="rect">
            <a:avLst/>
          </a:prstGeom>
          <a:noFill/>
          <a:ln/>
        </p:spPr>
        <p:txBody>
          <a:bodyPr wrap="none" lIns="0" tIns="0" rIns="0" bIns="0" rtlCol="0" anchor="t"/>
          <a:lstStyle/>
          <a:p>
            <a:pPr marL="0" indent="0" algn="ctr">
              <a:lnSpc>
                <a:spcPts val="3550"/>
              </a:lnSpc>
              <a:buNone/>
            </a:pPr>
            <a:r>
              <a:rPr lang="en-US" sz="3550" dirty="0">
                <a:solidFill>
                  <a:srgbClr val="D6D9D7"/>
                </a:solidFill>
                <a:latin typeface="DM Sans Medium" pitchFamily="34" charset="0"/>
                <a:ea typeface="DM Sans Medium" pitchFamily="34" charset="-122"/>
                <a:cs typeface="DM Sans Medium" pitchFamily="34" charset="-120"/>
              </a:rPr>
              <a:t>40%</a:t>
            </a:r>
            <a:endParaRPr lang="en-US" sz="3550" dirty="0"/>
          </a:p>
        </p:txBody>
      </p:sp>
      <p:sp>
        <p:nvSpPr>
          <p:cNvPr id="11" name="Text 9"/>
          <p:cNvSpPr/>
          <p:nvPr/>
        </p:nvSpPr>
        <p:spPr>
          <a:xfrm>
            <a:off x="7721798" y="2604135"/>
            <a:ext cx="1727478" cy="215860"/>
          </a:xfrm>
          <a:prstGeom prst="rect">
            <a:avLst/>
          </a:prstGeom>
          <a:noFill/>
          <a:ln/>
        </p:spPr>
        <p:txBody>
          <a:bodyPr wrap="none" lIns="0" tIns="0" rIns="0" bIns="0" rtlCol="0" anchor="t"/>
          <a:lstStyle/>
          <a:p>
            <a:pPr marL="0" indent="0" algn="ctr">
              <a:lnSpc>
                <a:spcPts val="1700"/>
              </a:lnSpc>
              <a:buNone/>
            </a:pPr>
            <a:r>
              <a:rPr lang="en-US" sz="1350" dirty="0">
                <a:solidFill>
                  <a:srgbClr val="D6D9D7"/>
                </a:solidFill>
                <a:latin typeface="DM Sans Medium" pitchFamily="34" charset="0"/>
                <a:ea typeface="DM Sans Medium" pitchFamily="34" charset="-122"/>
                <a:cs typeface="DM Sans Medium" pitchFamily="34" charset="-120"/>
              </a:rPr>
              <a:t>Risk Mitigation</a:t>
            </a:r>
            <a:endParaRPr lang="en-US" sz="1350" dirty="0"/>
          </a:p>
        </p:txBody>
      </p:sp>
      <p:sp>
        <p:nvSpPr>
          <p:cNvPr id="12" name="Text 10"/>
          <p:cNvSpPr/>
          <p:nvPr/>
        </p:nvSpPr>
        <p:spPr>
          <a:xfrm>
            <a:off x="7401520" y="2902863"/>
            <a:ext cx="2368034" cy="663297"/>
          </a:xfrm>
          <a:prstGeom prst="rect">
            <a:avLst/>
          </a:prstGeom>
          <a:noFill/>
          <a:ln/>
        </p:spPr>
        <p:txBody>
          <a:bodyPr wrap="square" lIns="0" tIns="0" rIns="0" bIns="0" rtlCol="0" anchor="t"/>
          <a:lstStyle/>
          <a:p>
            <a:pPr marL="0" indent="0" algn="ctr">
              <a:lnSpc>
                <a:spcPts val="1700"/>
              </a:lnSpc>
              <a:buNone/>
            </a:pPr>
            <a:r>
              <a:rPr lang="en-US" sz="1050" dirty="0">
                <a:solidFill>
                  <a:srgbClr val="D6D9D7"/>
                </a:solidFill>
                <a:latin typeface="Inter" pitchFamily="34" charset="0"/>
                <a:ea typeface="Inter" pitchFamily="34" charset="-122"/>
                <a:cs typeface="Inter" pitchFamily="34" charset="-120"/>
              </a:rPr>
              <a:t>Fewer unexpected defaults through predictive analytics and early warnings</a:t>
            </a:r>
            <a:endParaRPr lang="en-US" sz="1050" dirty="0"/>
          </a:p>
        </p:txBody>
      </p:sp>
      <p:sp>
        <p:nvSpPr>
          <p:cNvPr id="13" name="Text 11"/>
          <p:cNvSpPr/>
          <p:nvPr/>
        </p:nvSpPr>
        <p:spPr>
          <a:xfrm>
            <a:off x="9942195" y="1975485"/>
            <a:ext cx="2368034" cy="456009"/>
          </a:xfrm>
          <a:prstGeom prst="rect">
            <a:avLst/>
          </a:prstGeom>
          <a:noFill/>
          <a:ln/>
        </p:spPr>
        <p:txBody>
          <a:bodyPr wrap="none" lIns="0" tIns="0" rIns="0" bIns="0" rtlCol="0" anchor="t"/>
          <a:lstStyle/>
          <a:p>
            <a:pPr marL="0" indent="0" algn="ctr">
              <a:lnSpc>
                <a:spcPts val="3550"/>
              </a:lnSpc>
              <a:buNone/>
            </a:pPr>
            <a:r>
              <a:rPr lang="en-US" sz="3550" dirty="0">
                <a:solidFill>
                  <a:srgbClr val="D6D9D7"/>
                </a:solidFill>
                <a:latin typeface="DM Sans Medium" pitchFamily="34" charset="0"/>
                <a:ea typeface="DM Sans Medium" pitchFamily="34" charset="-122"/>
                <a:cs typeface="DM Sans Medium" pitchFamily="34" charset="-120"/>
              </a:rPr>
              <a:t>$2.5K</a:t>
            </a:r>
            <a:endParaRPr lang="en-US" sz="3550" dirty="0"/>
          </a:p>
        </p:txBody>
      </p:sp>
      <p:sp>
        <p:nvSpPr>
          <p:cNvPr id="14" name="Text 12"/>
          <p:cNvSpPr/>
          <p:nvPr/>
        </p:nvSpPr>
        <p:spPr>
          <a:xfrm>
            <a:off x="10262473" y="2604135"/>
            <a:ext cx="1727478" cy="215860"/>
          </a:xfrm>
          <a:prstGeom prst="rect">
            <a:avLst/>
          </a:prstGeom>
          <a:noFill/>
          <a:ln/>
        </p:spPr>
        <p:txBody>
          <a:bodyPr wrap="none" lIns="0" tIns="0" rIns="0" bIns="0" rtlCol="0" anchor="t"/>
          <a:lstStyle/>
          <a:p>
            <a:pPr marL="0" indent="0" algn="ctr">
              <a:lnSpc>
                <a:spcPts val="1700"/>
              </a:lnSpc>
              <a:buNone/>
            </a:pPr>
            <a:r>
              <a:rPr lang="en-US" sz="1350" dirty="0">
                <a:solidFill>
                  <a:srgbClr val="D6D9D7"/>
                </a:solidFill>
                <a:latin typeface="DM Sans Medium" pitchFamily="34" charset="0"/>
                <a:ea typeface="DM Sans Medium" pitchFamily="34" charset="-122"/>
                <a:cs typeface="DM Sans Medium" pitchFamily="34" charset="-120"/>
              </a:rPr>
              <a:t>Per Loan Savings</a:t>
            </a:r>
            <a:endParaRPr lang="en-US" sz="1350" dirty="0"/>
          </a:p>
        </p:txBody>
      </p:sp>
      <p:sp>
        <p:nvSpPr>
          <p:cNvPr id="15" name="Text 13"/>
          <p:cNvSpPr/>
          <p:nvPr/>
        </p:nvSpPr>
        <p:spPr>
          <a:xfrm>
            <a:off x="9942195" y="2902863"/>
            <a:ext cx="2368034" cy="663297"/>
          </a:xfrm>
          <a:prstGeom prst="rect">
            <a:avLst/>
          </a:prstGeom>
          <a:noFill/>
          <a:ln/>
        </p:spPr>
        <p:txBody>
          <a:bodyPr wrap="square" lIns="0" tIns="0" rIns="0" bIns="0" rtlCol="0" anchor="t"/>
          <a:lstStyle/>
          <a:p>
            <a:pPr marL="0" indent="0" algn="ctr">
              <a:lnSpc>
                <a:spcPts val="1700"/>
              </a:lnSpc>
              <a:buNone/>
            </a:pPr>
            <a:r>
              <a:rPr lang="en-US" sz="1050" dirty="0">
                <a:solidFill>
                  <a:srgbClr val="D6D9D7"/>
                </a:solidFill>
                <a:latin typeface="Inter" pitchFamily="34" charset="0"/>
                <a:ea typeface="Inter" pitchFamily="34" charset="-122"/>
                <a:cs typeface="Inter" pitchFamily="34" charset="-120"/>
              </a:rPr>
              <a:t>Legal review cost reduction through automated LMA compliance checking</a:t>
            </a:r>
            <a:endParaRPr lang="en-US" sz="1050" dirty="0"/>
          </a:p>
        </p:txBody>
      </p:sp>
      <p:sp>
        <p:nvSpPr>
          <p:cNvPr id="16" name="Text 14"/>
          <p:cNvSpPr/>
          <p:nvPr/>
        </p:nvSpPr>
        <p:spPr>
          <a:xfrm>
            <a:off x="4860846" y="3911560"/>
            <a:ext cx="2368034" cy="456009"/>
          </a:xfrm>
          <a:prstGeom prst="rect">
            <a:avLst/>
          </a:prstGeom>
          <a:noFill/>
          <a:ln/>
        </p:spPr>
        <p:txBody>
          <a:bodyPr wrap="none" lIns="0" tIns="0" rIns="0" bIns="0" rtlCol="0" anchor="t"/>
          <a:lstStyle/>
          <a:p>
            <a:pPr marL="0" indent="0" algn="ctr">
              <a:lnSpc>
                <a:spcPts val="3550"/>
              </a:lnSpc>
              <a:buNone/>
            </a:pPr>
            <a:r>
              <a:rPr lang="en-US" sz="3550" dirty="0">
                <a:solidFill>
                  <a:srgbClr val="D6D9D7"/>
                </a:solidFill>
                <a:latin typeface="DM Sans Medium" pitchFamily="34" charset="0"/>
                <a:ea typeface="DM Sans Medium" pitchFamily="34" charset="-122"/>
                <a:cs typeface="DM Sans Medium" pitchFamily="34" charset="-120"/>
              </a:rPr>
              <a:t>25bps</a:t>
            </a:r>
            <a:endParaRPr lang="en-US" sz="3550" dirty="0"/>
          </a:p>
        </p:txBody>
      </p:sp>
      <p:sp>
        <p:nvSpPr>
          <p:cNvPr id="17" name="Text 15"/>
          <p:cNvSpPr/>
          <p:nvPr/>
        </p:nvSpPr>
        <p:spPr>
          <a:xfrm>
            <a:off x="5181124" y="4540210"/>
            <a:ext cx="1727478" cy="215860"/>
          </a:xfrm>
          <a:prstGeom prst="rect">
            <a:avLst/>
          </a:prstGeom>
          <a:noFill/>
          <a:ln/>
        </p:spPr>
        <p:txBody>
          <a:bodyPr wrap="none" lIns="0" tIns="0" rIns="0" bIns="0" rtlCol="0" anchor="t"/>
          <a:lstStyle/>
          <a:p>
            <a:pPr marL="0" indent="0" algn="ctr">
              <a:lnSpc>
                <a:spcPts val="1700"/>
              </a:lnSpc>
              <a:buNone/>
            </a:pPr>
            <a:r>
              <a:rPr lang="en-US" sz="1350" dirty="0">
                <a:solidFill>
                  <a:srgbClr val="D6D9D7"/>
                </a:solidFill>
                <a:latin typeface="DM Sans Medium" pitchFamily="34" charset="0"/>
                <a:ea typeface="DM Sans Medium" pitchFamily="34" charset="-122"/>
                <a:cs typeface="DM Sans Medium" pitchFamily="34" charset="-120"/>
              </a:rPr>
              <a:t>Pricing Improvement</a:t>
            </a:r>
            <a:endParaRPr lang="en-US" sz="1350" dirty="0"/>
          </a:p>
        </p:txBody>
      </p:sp>
      <p:sp>
        <p:nvSpPr>
          <p:cNvPr id="18" name="Text 16"/>
          <p:cNvSpPr/>
          <p:nvPr/>
        </p:nvSpPr>
        <p:spPr>
          <a:xfrm>
            <a:off x="4860846" y="4838938"/>
            <a:ext cx="2368034" cy="663297"/>
          </a:xfrm>
          <a:prstGeom prst="rect">
            <a:avLst/>
          </a:prstGeom>
          <a:noFill/>
          <a:ln/>
        </p:spPr>
        <p:txBody>
          <a:bodyPr wrap="square" lIns="0" tIns="0" rIns="0" bIns="0" rtlCol="0" anchor="t"/>
          <a:lstStyle/>
          <a:p>
            <a:pPr marL="0" indent="0" algn="ctr">
              <a:lnSpc>
                <a:spcPts val="1700"/>
              </a:lnSpc>
              <a:buNone/>
            </a:pPr>
            <a:r>
              <a:rPr lang="en-US" sz="1050" dirty="0">
                <a:solidFill>
                  <a:srgbClr val="D6D9D7"/>
                </a:solidFill>
                <a:latin typeface="Inter" pitchFamily="34" charset="0"/>
                <a:ea typeface="Inter" pitchFamily="34" charset="-122"/>
                <a:cs typeface="Inter" pitchFamily="34" charset="-120"/>
              </a:rPr>
              <a:t>Enhanced market standardization and transparency drives better execution</a:t>
            </a:r>
            <a:endParaRPr lang="en-US" sz="1050" dirty="0"/>
          </a:p>
        </p:txBody>
      </p:sp>
      <p:sp>
        <p:nvSpPr>
          <p:cNvPr id="19" name="Text 17"/>
          <p:cNvSpPr/>
          <p:nvPr/>
        </p:nvSpPr>
        <p:spPr>
          <a:xfrm>
            <a:off x="7401520" y="3911560"/>
            <a:ext cx="2368034" cy="456009"/>
          </a:xfrm>
          <a:prstGeom prst="rect">
            <a:avLst/>
          </a:prstGeom>
          <a:noFill/>
          <a:ln/>
        </p:spPr>
        <p:txBody>
          <a:bodyPr wrap="none" lIns="0" tIns="0" rIns="0" bIns="0" rtlCol="0" anchor="t"/>
          <a:lstStyle/>
          <a:p>
            <a:pPr marL="0" indent="0" algn="ctr">
              <a:lnSpc>
                <a:spcPts val="3550"/>
              </a:lnSpc>
              <a:buNone/>
            </a:pPr>
            <a:r>
              <a:rPr lang="en-US" sz="3550" dirty="0">
                <a:solidFill>
                  <a:srgbClr val="D6D9D7"/>
                </a:solidFill>
                <a:latin typeface="DM Sans Medium" pitchFamily="34" charset="0"/>
                <a:ea typeface="DM Sans Medium" pitchFamily="34" charset="-122"/>
                <a:cs typeface="DM Sans Medium" pitchFamily="34" charset="-120"/>
              </a:rPr>
              <a:t>$2M</a:t>
            </a:r>
            <a:endParaRPr lang="en-US" sz="3550" dirty="0"/>
          </a:p>
        </p:txBody>
      </p:sp>
      <p:sp>
        <p:nvSpPr>
          <p:cNvPr id="20" name="Text 18"/>
          <p:cNvSpPr/>
          <p:nvPr/>
        </p:nvSpPr>
        <p:spPr>
          <a:xfrm>
            <a:off x="7721798" y="4540210"/>
            <a:ext cx="1727478" cy="215860"/>
          </a:xfrm>
          <a:prstGeom prst="rect">
            <a:avLst/>
          </a:prstGeom>
          <a:noFill/>
          <a:ln/>
        </p:spPr>
        <p:txBody>
          <a:bodyPr wrap="none" lIns="0" tIns="0" rIns="0" bIns="0" rtlCol="0" anchor="t"/>
          <a:lstStyle/>
          <a:p>
            <a:pPr marL="0" indent="0" algn="ctr">
              <a:lnSpc>
                <a:spcPts val="1700"/>
              </a:lnSpc>
              <a:buNone/>
            </a:pPr>
            <a:r>
              <a:rPr lang="en-US" sz="1350" dirty="0">
                <a:solidFill>
                  <a:srgbClr val="D6D9D7"/>
                </a:solidFill>
                <a:latin typeface="DM Sans Medium" pitchFamily="34" charset="0"/>
                <a:ea typeface="DM Sans Medium" pitchFamily="34" charset="-122"/>
                <a:cs typeface="DM Sans Medium" pitchFamily="34" charset="-120"/>
              </a:rPr>
              <a:t>Annual Value</a:t>
            </a:r>
            <a:endParaRPr lang="en-US" sz="1350" dirty="0"/>
          </a:p>
        </p:txBody>
      </p:sp>
      <p:sp>
        <p:nvSpPr>
          <p:cNvPr id="21" name="Text 19"/>
          <p:cNvSpPr/>
          <p:nvPr/>
        </p:nvSpPr>
        <p:spPr>
          <a:xfrm>
            <a:off x="7401520" y="4838938"/>
            <a:ext cx="2368034" cy="663297"/>
          </a:xfrm>
          <a:prstGeom prst="rect">
            <a:avLst/>
          </a:prstGeom>
          <a:noFill/>
          <a:ln/>
        </p:spPr>
        <p:txBody>
          <a:bodyPr wrap="square" lIns="0" tIns="0" rIns="0" bIns="0" rtlCol="0" anchor="t"/>
          <a:lstStyle/>
          <a:p>
            <a:pPr marL="0" indent="0" algn="ctr">
              <a:lnSpc>
                <a:spcPts val="1700"/>
              </a:lnSpc>
              <a:buNone/>
            </a:pPr>
            <a:r>
              <a:rPr lang="en-US" sz="1050" dirty="0">
                <a:solidFill>
                  <a:srgbClr val="D6D9D7"/>
                </a:solidFill>
                <a:latin typeface="Inter" pitchFamily="34" charset="0"/>
                <a:ea typeface="Inter" pitchFamily="34" charset="-122"/>
                <a:cs typeface="Inter" pitchFamily="34" charset="-120"/>
              </a:rPr>
              <a:t>Estimated annual value per institution in efficiency gains and cost savings</a:t>
            </a:r>
            <a:endParaRPr lang="en-US" sz="1050" dirty="0"/>
          </a:p>
        </p:txBody>
      </p:sp>
      <p:sp>
        <p:nvSpPr>
          <p:cNvPr id="22" name="Shape 20"/>
          <p:cNvSpPr/>
          <p:nvPr/>
        </p:nvSpPr>
        <p:spPr>
          <a:xfrm>
            <a:off x="2320171" y="5726690"/>
            <a:ext cx="9990058" cy="24884"/>
          </a:xfrm>
          <a:prstGeom prst="rect">
            <a:avLst/>
          </a:prstGeom>
          <a:solidFill>
            <a:srgbClr val="D6D9D7">
              <a:alpha val="50000"/>
            </a:srgbClr>
          </a:solidFill>
          <a:ln/>
        </p:spPr>
      </p:sp>
      <p:sp>
        <p:nvSpPr>
          <p:cNvPr id="23" name="Text 21"/>
          <p:cNvSpPr/>
          <p:nvPr/>
        </p:nvSpPr>
        <p:spPr>
          <a:xfrm>
            <a:off x="2320171" y="6045041"/>
            <a:ext cx="1727478" cy="215860"/>
          </a:xfrm>
          <a:prstGeom prst="rect">
            <a:avLst/>
          </a:prstGeom>
          <a:noFill/>
          <a:ln/>
        </p:spPr>
        <p:txBody>
          <a:bodyPr wrap="none" lIns="0" tIns="0" rIns="0" bIns="0" rtlCol="0" anchor="t"/>
          <a:lstStyle/>
          <a:p>
            <a:pPr marL="0" indent="0" algn="l">
              <a:lnSpc>
                <a:spcPts val="1700"/>
              </a:lnSpc>
              <a:buNone/>
            </a:pPr>
            <a:r>
              <a:rPr lang="en-US" sz="1350" dirty="0">
                <a:solidFill>
                  <a:srgbClr val="F7F7F8"/>
                </a:solidFill>
                <a:latin typeface="DM Sans Medium" pitchFamily="34" charset="0"/>
                <a:ea typeface="DM Sans Medium" pitchFamily="34" charset="-122"/>
                <a:cs typeface="DM Sans Medium" pitchFamily="34" charset="-120"/>
              </a:rPr>
              <a:t>Efficiency Multiplier</a:t>
            </a:r>
            <a:endParaRPr lang="en-US" sz="1350" dirty="0"/>
          </a:p>
        </p:txBody>
      </p:sp>
      <p:sp>
        <p:nvSpPr>
          <p:cNvPr id="24" name="Text 22"/>
          <p:cNvSpPr/>
          <p:nvPr/>
        </p:nvSpPr>
        <p:spPr>
          <a:xfrm>
            <a:off x="2320171" y="6399014"/>
            <a:ext cx="3070741" cy="1105495"/>
          </a:xfrm>
          <a:prstGeom prst="rect">
            <a:avLst/>
          </a:prstGeom>
          <a:noFill/>
          <a:ln/>
        </p:spPr>
        <p:txBody>
          <a:bodyPr wrap="square" lIns="0" tIns="0" rIns="0" bIns="0" rtlCol="0" anchor="t"/>
          <a:lstStyle/>
          <a:p>
            <a:pPr marL="0" indent="0" algn="l">
              <a:lnSpc>
                <a:spcPts val="1700"/>
              </a:lnSpc>
              <a:buNone/>
            </a:pPr>
            <a:r>
              <a:rPr lang="en-US" sz="1050" dirty="0">
                <a:solidFill>
                  <a:srgbClr val="D6D9D7"/>
                </a:solidFill>
                <a:latin typeface="Inter" pitchFamily="34" charset="0"/>
                <a:ea typeface="Inter" pitchFamily="34" charset="-122"/>
                <a:cs typeface="Inter" pitchFamily="34" charset="-120"/>
              </a:rPr>
              <a:t>Every dollar invested in LoanFlow AI generates $5-7 in operational savings within the first year. Platform adoption drives continuous improvement through machine learning and process optimization.</a:t>
            </a:r>
            <a:endParaRPr lang="en-US" sz="1050" dirty="0"/>
          </a:p>
        </p:txBody>
      </p:sp>
      <p:sp>
        <p:nvSpPr>
          <p:cNvPr id="25" name="Text 23"/>
          <p:cNvSpPr/>
          <p:nvPr/>
        </p:nvSpPr>
        <p:spPr>
          <a:xfrm>
            <a:off x="5735717" y="6045041"/>
            <a:ext cx="1814274" cy="215860"/>
          </a:xfrm>
          <a:prstGeom prst="rect">
            <a:avLst/>
          </a:prstGeom>
          <a:noFill/>
          <a:ln/>
        </p:spPr>
        <p:txBody>
          <a:bodyPr wrap="none" lIns="0" tIns="0" rIns="0" bIns="0" rtlCol="0" anchor="t"/>
          <a:lstStyle/>
          <a:p>
            <a:pPr marL="0" indent="0" algn="l">
              <a:lnSpc>
                <a:spcPts val="1700"/>
              </a:lnSpc>
              <a:buNone/>
            </a:pPr>
            <a:r>
              <a:rPr lang="en-US" sz="1350" dirty="0">
                <a:solidFill>
                  <a:srgbClr val="F7F7F8"/>
                </a:solidFill>
                <a:latin typeface="DM Sans Medium" pitchFamily="34" charset="0"/>
                <a:ea typeface="DM Sans Medium" pitchFamily="34" charset="-122"/>
                <a:cs typeface="DM Sans Medium" pitchFamily="34" charset="-120"/>
              </a:rPr>
              <a:t>Risk-Adjusted Returns</a:t>
            </a:r>
            <a:endParaRPr lang="en-US" sz="1350" dirty="0"/>
          </a:p>
        </p:txBody>
      </p:sp>
      <p:sp>
        <p:nvSpPr>
          <p:cNvPr id="26" name="Text 24"/>
          <p:cNvSpPr/>
          <p:nvPr/>
        </p:nvSpPr>
        <p:spPr>
          <a:xfrm>
            <a:off x="5735717" y="6399014"/>
            <a:ext cx="3070741" cy="884396"/>
          </a:xfrm>
          <a:prstGeom prst="rect">
            <a:avLst/>
          </a:prstGeom>
          <a:noFill/>
          <a:ln/>
        </p:spPr>
        <p:txBody>
          <a:bodyPr wrap="square" lIns="0" tIns="0" rIns="0" bIns="0" rtlCol="0" anchor="t"/>
          <a:lstStyle/>
          <a:p>
            <a:pPr marL="0" indent="0" algn="l">
              <a:lnSpc>
                <a:spcPts val="1700"/>
              </a:lnSpc>
              <a:buNone/>
            </a:pPr>
            <a:r>
              <a:rPr lang="en-US" sz="1050" dirty="0">
                <a:solidFill>
                  <a:srgbClr val="D6D9D7"/>
                </a:solidFill>
                <a:latin typeface="Inter" pitchFamily="34" charset="0"/>
                <a:ea typeface="Inter" pitchFamily="34" charset="-122"/>
                <a:cs typeface="Inter" pitchFamily="34" charset="-120"/>
              </a:rPr>
              <a:t>Predictive analytics improve portfolio quality by identifying high-risk exposures before they materialize into losses. Early intervention reduces expected loss rates by 30-40%.</a:t>
            </a:r>
            <a:endParaRPr lang="en-US" sz="1050" dirty="0"/>
          </a:p>
        </p:txBody>
      </p:sp>
      <p:sp>
        <p:nvSpPr>
          <p:cNvPr id="27" name="Text 25"/>
          <p:cNvSpPr/>
          <p:nvPr/>
        </p:nvSpPr>
        <p:spPr>
          <a:xfrm>
            <a:off x="9151263" y="6045041"/>
            <a:ext cx="1727478" cy="215860"/>
          </a:xfrm>
          <a:prstGeom prst="rect">
            <a:avLst/>
          </a:prstGeom>
          <a:noFill/>
          <a:ln/>
        </p:spPr>
        <p:txBody>
          <a:bodyPr wrap="none" lIns="0" tIns="0" rIns="0" bIns="0" rtlCol="0" anchor="t"/>
          <a:lstStyle/>
          <a:p>
            <a:pPr marL="0" indent="0" algn="l">
              <a:lnSpc>
                <a:spcPts val="1700"/>
              </a:lnSpc>
              <a:buNone/>
            </a:pPr>
            <a:r>
              <a:rPr lang="en-US" sz="1350" dirty="0">
                <a:solidFill>
                  <a:srgbClr val="F7F7F8"/>
                </a:solidFill>
                <a:latin typeface="DM Sans Medium" pitchFamily="34" charset="0"/>
                <a:ea typeface="DM Sans Medium" pitchFamily="34" charset="-122"/>
                <a:cs typeface="DM Sans Medium" pitchFamily="34" charset="-120"/>
              </a:rPr>
              <a:t>Market Expansion</a:t>
            </a:r>
            <a:endParaRPr lang="en-US" sz="1350" dirty="0"/>
          </a:p>
        </p:txBody>
      </p:sp>
      <p:sp>
        <p:nvSpPr>
          <p:cNvPr id="28" name="Text 26"/>
          <p:cNvSpPr/>
          <p:nvPr/>
        </p:nvSpPr>
        <p:spPr>
          <a:xfrm>
            <a:off x="9151263" y="6399014"/>
            <a:ext cx="3173968" cy="884396"/>
          </a:xfrm>
          <a:prstGeom prst="rect">
            <a:avLst/>
          </a:prstGeom>
          <a:noFill/>
          <a:ln/>
        </p:spPr>
        <p:txBody>
          <a:bodyPr wrap="square" lIns="0" tIns="0" rIns="0" bIns="0" rtlCol="0" anchor="t"/>
          <a:lstStyle/>
          <a:p>
            <a:pPr marL="0" indent="0" algn="l">
              <a:lnSpc>
                <a:spcPts val="1700"/>
              </a:lnSpc>
              <a:buNone/>
            </a:pPr>
            <a:r>
              <a:rPr lang="en-US" sz="1050" dirty="0">
                <a:solidFill>
                  <a:srgbClr val="D6D9D7"/>
                </a:solidFill>
                <a:latin typeface="Inter" pitchFamily="34" charset="0"/>
                <a:ea typeface="Inter" pitchFamily="34" charset="-122"/>
                <a:cs typeface="Inter" pitchFamily="34" charset="-120"/>
              </a:rPr>
              <a:t>Standardization and transparency unlock new market participants, increasing overall loan market liquidity by an estimated 20-30% within three years of broad adoption.</a:t>
            </a:r>
            <a:endParaRPr lang="en-US" sz="1050" dirty="0"/>
          </a:p>
        </p:txBody>
      </p:sp>
      <p:sp>
        <p:nvSpPr>
          <p:cNvPr id="29" name="Rectangle: Rounded Corners 28">
            <a:extLst>
              <a:ext uri="{FF2B5EF4-FFF2-40B4-BE49-F238E27FC236}">
                <a16:creationId xmlns:a16="http://schemas.microsoft.com/office/drawing/2014/main" id="{1BA44AEB-DF6D-3BE4-638B-4F98DCD35F58}"/>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728442" y="272891"/>
            <a:ext cx="1214438" cy="201811"/>
          </a:xfrm>
          <a:prstGeom prst="roundRect">
            <a:avLst>
              <a:gd name="adj" fmla="val 5901"/>
            </a:avLst>
          </a:prstGeom>
          <a:noFill/>
          <a:ln w="7620">
            <a:solidFill>
              <a:srgbClr val="AC9EF5"/>
            </a:solidFill>
            <a:prstDash val="solid"/>
          </a:ln>
        </p:spPr>
      </p:sp>
      <p:sp>
        <p:nvSpPr>
          <p:cNvPr id="3" name="Text 1"/>
          <p:cNvSpPr/>
          <p:nvPr/>
        </p:nvSpPr>
        <p:spPr>
          <a:xfrm>
            <a:off x="3795593" y="310277"/>
            <a:ext cx="1080135" cy="127040"/>
          </a:xfrm>
          <a:prstGeom prst="rect">
            <a:avLst/>
          </a:prstGeom>
          <a:noFill/>
          <a:ln/>
        </p:spPr>
        <p:txBody>
          <a:bodyPr wrap="none" lIns="0" tIns="0" rIns="0" bIns="0" rtlCol="0" anchor="t"/>
          <a:lstStyle/>
          <a:p>
            <a:pPr marL="0" indent="0" algn="l">
              <a:lnSpc>
                <a:spcPts val="1000"/>
              </a:lnSpc>
              <a:buNone/>
            </a:pPr>
            <a:r>
              <a:rPr lang="en-US" sz="600" dirty="0">
                <a:solidFill>
                  <a:srgbClr val="AC9EF5"/>
                </a:solidFill>
                <a:latin typeface="Inter" pitchFamily="34" charset="0"/>
                <a:ea typeface="Inter" pitchFamily="34" charset="-122"/>
                <a:cs typeface="Inter" pitchFamily="34" charset="-120"/>
              </a:rPr>
              <a:t>TECHNOLOGY EXCELLENCE</a:t>
            </a:r>
            <a:endParaRPr lang="en-US" sz="600" dirty="0"/>
          </a:p>
        </p:txBody>
      </p:sp>
      <p:sp>
        <p:nvSpPr>
          <p:cNvPr id="4" name="Text 2"/>
          <p:cNvSpPr/>
          <p:nvPr/>
        </p:nvSpPr>
        <p:spPr>
          <a:xfrm>
            <a:off x="3728442" y="514350"/>
            <a:ext cx="4166592" cy="310158"/>
          </a:xfrm>
          <a:prstGeom prst="rect">
            <a:avLst/>
          </a:prstGeom>
          <a:noFill/>
          <a:ln/>
        </p:spPr>
        <p:txBody>
          <a:bodyPr wrap="none" lIns="0" tIns="0" rIns="0" bIns="0" rtlCol="0" anchor="t"/>
          <a:lstStyle/>
          <a:p>
            <a:pPr marL="0" indent="0" algn="l">
              <a:lnSpc>
                <a:spcPts val="2400"/>
              </a:lnSpc>
              <a:buNone/>
            </a:pPr>
            <a:r>
              <a:rPr lang="en-US" sz="1950" dirty="0">
                <a:solidFill>
                  <a:srgbClr val="F7F7F8"/>
                </a:solidFill>
                <a:latin typeface="DM Sans Medium" pitchFamily="34" charset="0"/>
                <a:ea typeface="DM Sans Medium" pitchFamily="34" charset="-122"/>
                <a:cs typeface="DM Sans Medium" pitchFamily="34" charset="-120"/>
              </a:rPr>
              <a:t>Technical Architecture &amp; Innovation</a:t>
            </a:r>
            <a:endParaRPr lang="en-US" sz="1950" dirty="0"/>
          </a:p>
        </p:txBody>
      </p:sp>
      <p:sp>
        <p:nvSpPr>
          <p:cNvPr id="5" name="Text 3"/>
          <p:cNvSpPr/>
          <p:nvPr/>
        </p:nvSpPr>
        <p:spPr>
          <a:xfrm>
            <a:off x="3728442" y="1062633"/>
            <a:ext cx="4207193" cy="634365"/>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LoanFlow AI is built on a modern, production-ready technology stack that prioritizes performance, scalability, and developer productivity. Unlike typical hackathon projects with mock data, this platform features real AI integration, persistent storage, and enterprise-grade error handling.</a:t>
            </a:r>
            <a:endParaRPr lang="en-US" sz="750" dirty="0"/>
          </a:p>
        </p:txBody>
      </p:sp>
      <p:sp>
        <p:nvSpPr>
          <p:cNvPr id="6" name="Shape 4"/>
          <p:cNvSpPr/>
          <p:nvPr/>
        </p:nvSpPr>
        <p:spPr>
          <a:xfrm>
            <a:off x="3728442" y="1808559"/>
            <a:ext cx="4207193" cy="1414582"/>
          </a:xfrm>
          <a:prstGeom prst="roundRect">
            <a:avLst>
              <a:gd name="adj" fmla="val 1052"/>
            </a:avLst>
          </a:prstGeom>
          <a:solidFill>
            <a:srgbClr val="2D3133"/>
          </a:solidFill>
          <a:ln w="15240">
            <a:solidFill>
              <a:srgbClr val="65696B"/>
            </a:solidFill>
            <a:prstDash val="solid"/>
          </a:ln>
        </p:spPr>
      </p:sp>
      <p:sp>
        <p:nvSpPr>
          <p:cNvPr id="7" name="Shape 5"/>
          <p:cNvSpPr/>
          <p:nvPr/>
        </p:nvSpPr>
        <p:spPr>
          <a:xfrm>
            <a:off x="3743682" y="1823799"/>
            <a:ext cx="396835" cy="1384102"/>
          </a:xfrm>
          <a:prstGeom prst="rect">
            <a:avLst/>
          </a:prstGeom>
          <a:solidFill>
            <a:srgbClr val="4C5052"/>
          </a:solidFill>
          <a:ln/>
        </p:spPr>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67626" y="2441377"/>
            <a:ext cx="148828" cy="148828"/>
          </a:xfrm>
          <a:prstGeom prst="rect">
            <a:avLst/>
          </a:prstGeom>
        </p:spPr>
      </p:pic>
      <p:sp>
        <p:nvSpPr>
          <p:cNvPr id="9" name="Text 6"/>
          <p:cNvSpPr/>
          <p:nvPr/>
        </p:nvSpPr>
        <p:spPr>
          <a:xfrm>
            <a:off x="4239697" y="1922978"/>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Frontend Excellence</a:t>
            </a:r>
            <a:endParaRPr lang="en-US" sz="950" dirty="0"/>
          </a:p>
        </p:txBody>
      </p:sp>
      <p:sp>
        <p:nvSpPr>
          <p:cNvPr id="10" name="Text 7"/>
          <p:cNvSpPr/>
          <p:nvPr/>
        </p:nvSpPr>
        <p:spPr>
          <a:xfrm>
            <a:off x="4239697" y="2177177"/>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React 19</a:t>
            </a:r>
            <a:r>
              <a:rPr lang="en-US" sz="750" dirty="0">
                <a:solidFill>
                  <a:srgbClr val="D6D9D7"/>
                </a:solidFill>
                <a:latin typeface="Inter" pitchFamily="34" charset="0"/>
                <a:ea typeface="Inter" pitchFamily="34" charset="-122"/>
                <a:cs typeface="Inter" pitchFamily="34" charset="-120"/>
              </a:rPr>
              <a:t> with TypeScript for type-safe development</a:t>
            </a:r>
            <a:endParaRPr lang="en-US" sz="750" dirty="0"/>
          </a:p>
        </p:txBody>
      </p:sp>
      <p:sp>
        <p:nvSpPr>
          <p:cNvPr id="11" name="Text 8"/>
          <p:cNvSpPr/>
          <p:nvPr/>
        </p:nvSpPr>
        <p:spPr>
          <a:xfrm>
            <a:off x="4239697" y="2370415"/>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shadcn/ui v4</a:t>
            </a:r>
            <a:r>
              <a:rPr lang="en-US" sz="750" dirty="0">
                <a:solidFill>
                  <a:srgbClr val="D6D9D7"/>
                </a:solidFill>
                <a:latin typeface="Inter" pitchFamily="34" charset="0"/>
                <a:ea typeface="Inter" pitchFamily="34" charset="-122"/>
                <a:cs typeface="Inter" pitchFamily="34" charset="-120"/>
              </a:rPr>
              <a:t> component library for consistent design system</a:t>
            </a:r>
            <a:endParaRPr lang="en-US" sz="750" dirty="0"/>
          </a:p>
        </p:txBody>
      </p:sp>
      <p:sp>
        <p:nvSpPr>
          <p:cNvPr id="12" name="Text 9"/>
          <p:cNvSpPr/>
          <p:nvPr/>
        </p:nvSpPr>
        <p:spPr>
          <a:xfrm>
            <a:off x="4239697" y="2563654"/>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Tailwind CSS v4</a:t>
            </a:r>
            <a:r>
              <a:rPr lang="en-US" sz="750" dirty="0">
                <a:solidFill>
                  <a:srgbClr val="D6D9D7"/>
                </a:solidFill>
                <a:latin typeface="Inter" pitchFamily="34" charset="0"/>
                <a:ea typeface="Inter" pitchFamily="34" charset="-122"/>
                <a:cs typeface="Inter" pitchFamily="34" charset="-120"/>
              </a:rPr>
              <a:t> for responsive, utility-first styling</a:t>
            </a:r>
            <a:endParaRPr lang="en-US" sz="750" dirty="0"/>
          </a:p>
        </p:txBody>
      </p:sp>
      <p:sp>
        <p:nvSpPr>
          <p:cNvPr id="13" name="Text 10"/>
          <p:cNvSpPr/>
          <p:nvPr/>
        </p:nvSpPr>
        <p:spPr>
          <a:xfrm>
            <a:off x="4239697" y="2756892"/>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Phosphor Icons</a:t>
            </a:r>
            <a:r>
              <a:rPr lang="en-US" sz="750" dirty="0">
                <a:solidFill>
                  <a:srgbClr val="D6D9D7"/>
                </a:solidFill>
                <a:latin typeface="Inter" pitchFamily="34" charset="0"/>
                <a:ea typeface="Inter" pitchFamily="34" charset="-122"/>
                <a:cs typeface="Inter" pitchFamily="34" charset="-120"/>
              </a:rPr>
              <a:t> for comprehensive iconography</a:t>
            </a:r>
            <a:endParaRPr lang="en-US" sz="750" dirty="0"/>
          </a:p>
        </p:txBody>
      </p:sp>
      <p:sp>
        <p:nvSpPr>
          <p:cNvPr id="14" name="Text 11"/>
          <p:cNvSpPr/>
          <p:nvPr/>
        </p:nvSpPr>
        <p:spPr>
          <a:xfrm>
            <a:off x="4239697" y="2950131"/>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Sonner</a:t>
            </a:r>
            <a:r>
              <a:rPr lang="en-US" sz="750" dirty="0">
                <a:solidFill>
                  <a:srgbClr val="D6D9D7"/>
                </a:solidFill>
                <a:latin typeface="Inter" pitchFamily="34" charset="0"/>
                <a:ea typeface="Inter" pitchFamily="34" charset="-122"/>
                <a:cs typeface="Inter" pitchFamily="34" charset="-120"/>
              </a:rPr>
              <a:t> for elegant toast notifications</a:t>
            </a:r>
            <a:endParaRPr lang="en-US" sz="750" dirty="0"/>
          </a:p>
        </p:txBody>
      </p:sp>
      <p:sp>
        <p:nvSpPr>
          <p:cNvPr id="15" name="Shape 12"/>
          <p:cNvSpPr/>
          <p:nvPr/>
        </p:nvSpPr>
        <p:spPr>
          <a:xfrm>
            <a:off x="3728442" y="3322320"/>
            <a:ext cx="4207193" cy="1221343"/>
          </a:xfrm>
          <a:prstGeom prst="roundRect">
            <a:avLst>
              <a:gd name="adj" fmla="val 1219"/>
            </a:avLst>
          </a:prstGeom>
          <a:solidFill>
            <a:srgbClr val="2D3133"/>
          </a:solidFill>
          <a:ln w="15240">
            <a:solidFill>
              <a:srgbClr val="65696B"/>
            </a:solidFill>
            <a:prstDash val="solid"/>
          </a:ln>
        </p:spPr>
      </p:sp>
      <p:sp>
        <p:nvSpPr>
          <p:cNvPr id="16" name="Shape 13"/>
          <p:cNvSpPr/>
          <p:nvPr/>
        </p:nvSpPr>
        <p:spPr>
          <a:xfrm>
            <a:off x="3743682" y="3337560"/>
            <a:ext cx="396835" cy="1190863"/>
          </a:xfrm>
          <a:prstGeom prst="rect">
            <a:avLst/>
          </a:prstGeom>
          <a:solidFill>
            <a:srgbClr val="4C5052"/>
          </a:solidFill>
          <a:ln/>
        </p:spPr>
      </p:sp>
      <p:pic>
        <p:nvPicPr>
          <p:cNvPr id="1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67626" y="3858578"/>
            <a:ext cx="148828" cy="148828"/>
          </a:xfrm>
          <a:prstGeom prst="rect">
            <a:avLst/>
          </a:prstGeom>
        </p:spPr>
      </p:pic>
      <p:sp>
        <p:nvSpPr>
          <p:cNvPr id="18" name="Text 14"/>
          <p:cNvSpPr/>
          <p:nvPr/>
        </p:nvSpPr>
        <p:spPr>
          <a:xfrm>
            <a:off x="4239697" y="3436739"/>
            <a:ext cx="1297305"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AI &amp; Machine Learning</a:t>
            </a:r>
            <a:endParaRPr lang="en-US" sz="950" dirty="0"/>
          </a:p>
        </p:txBody>
      </p:sp>
      <p:sp>
        <p:nvSpPr>
          <p:cNvPr id="19" name="Text 15"/>
          <p:cNvSpPr/>
          <p:nvPr/>
        </p:nvSpPr>
        <p:spPr>
          <a:xfrm>
            <a:off x="4239697" y="3690938"/>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OpenAI GPT-4</a:t>
            </a:r>
            <a:r>
              <a:rPr lang="en-US" sz="750" dirty="0">
                <a:solidFill>
                  <a:srgbClr val="D6D9D7"/>
                </a:solidFill>
                <a:latin typeface="Inter" pitchFamily="34" charset="0"/>
                <a:ea typeface="Inter" pitchFamily="34" charset="-122"/>
                <a:cs typeface="Inter" pitchFamily="34" charset="-120"/>
              </a:rPr>
              <a:t> for document analysis and insights (real API calls)</a:t>
            </a:r>
            <a:endParaRPr lang="en-US" sz="750" dirty="0"/>
          </a:p>
        </p:txBody>
      </p:sp>
      <p:sp>
        <p:nvSpPr>
          <p:cNvPr id="20" name="Text 16"/>
          <p:cNvSpPr/>
          <p:nvPr/>
        </p:nvSpPr>
        <p:spPr>
          <a:xfrm>
            <a:off x="4239697" y="3884176"/>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Structured prompt engineering for consistent data extraction</a:t>
            </a:r>
            <a:endParaRPr lang="en-US" sz="750" dirty="0"/>
          </a:p>
        </p:txBody>
      </p:sp>
      <p:sp>
        <p:nvSpPr>
          <p:cNvPr id="21" name="Text 17"/>
          <p:cNvSpPr/>
          <p:nvPr/>
        </p:nvSpPr>
        <p:spPr>
          <a:xfrm>
            <a:off x="4239697" y="4077414"/>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Fallback mechanisms for API resilience</a:t>
            </a:r>
            <a:endParaRPr lang="en-US" sz="750" dirty="0"/>
          </a:p>
        </p:txBody>
      </p:sp>
      <p:sp>
        <p:nvSpPr>
          <p:cNvPr id="22" name="Text 18"/>
          <p:cNvSpPr/>
          <p:nvPr/>
        </p:nvSpPr>
        <p:spPr>
          <a:xfrm>
            <a:off x="4239697" y="4270653"/>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Token optimization for cost-effective processing</a:t>
            </a:r>
            <a:endParaRPr lang="en-US" sz="750" dirty="0"/>
          </a:p>
        </p:txBody>
      </p:sp>
      <p:sp>
        <p:nvSpPr>
          <p:cNvPr id="23" name="Shape 19"/>
          <p:cNvSpPr/>
          <p:nvPr/>
        </p:nvSpPr>
        <p:spPr>
          <a:xfrm>
            <a:off x="3728442" y="4642842"/>
            <a:ext cx="4207193" cy="1221343"/>
          </a:xfrm>
          <a:prstGeom prst="roundRect">
            <a:avLst>
              <a:gd name="adj" fmla="val 1219"/>
            </a:avLst>
          </a:prstGeom>
          <a:solidFill>
            <a:srgbClr val="2D3133"/>
          </a:solidFill>
          <a:ln w="15240">
            <a:solidFill>
              <a:srgbClr val="65696B"/>
            </a:solidFill>
            <a:prstDash val="solid"/>
          </a:ln>
        </p:spPr>
      </p:sp>
      <p:sp>
        <p:nvSpPr>
          <p:cNvPr id="24" name="Shape 20"/>
          <p:cNvSpPr/>
          <p:nvPr/>
        </p:nvSpPr>
        <p:spPr>
          <a:xfrm>
            <a:off x="3743682" y="4658082"/>
            <a:ext cx="396835" cy="1190863"/>
          </a:xfrm>
          <a:prstGeom prst="rect">
            <a:avLst/>
          </a:prstGeom>
          <a:solidFill>
            <a:srgbClr val="4C5052"/>
          </a:solidFill>
          <a:ln/>
        </p:spPr>
      </p:sp>
      <p:pic>
        <p:nvPicPr>
          <p:cNvPr id="2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67626" y="5179100"/>
            <a:ext cx="148828" cy="148828"/>
          </a:xfrm>
          <a:prstGeom prst="rect">
            <a:avLst/>
          </a:prstGeom>
        </p:spPr>
      </p:pic>
      <p:sp>
        <p:nvSpPr>
          <p:cNvPr id="26" name="Text 21"/>
          <p:cNvSpPr/>
          <p:nvPr/>
        </p:nvSpPr>
        <p:spPr>
          <a:xfrm>
            <a:off x="4239697" y="4757261"/>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Data Architecture</a:t>
            </a:r>
            <a:endParaRPr lang="en-US" sz="950" dirty="0"/>
          </a:p>
        </p:txBody>
      </p:sp>
      <p:sp>
        <p:nvSpPr>
          <p:cNvPr id="27" name="Text 22"/>
          <p:cNvSpPr/>
          <p:nvPr/>
        </p:nvSpPr>
        <p:spPr>
          <a:xfrm>
            <a:off x="4239697" y="5011460"/>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b="1" dirty="0">
                <a:solidFill>
                  <a:srgbClr val="D6D9D7"/>
                </a:solidFill>
                <a:latin typeface="Inter" pitchFamily="34" charset="0"/>
                <a:ea typeface="Inter" pitchFamily="34" charset="-122"/>
                <a:cs typeface="Inter" pitchFamily="34" charset="-120"/>
              </a:rPr>
              <a:t>Key-Value persistence</a:t>
            </a:r>
            <a:r>
              <a:rPr lang="en-US" sz="750" dirty="0">
                <a:solidFill>
                  <a:srgbClr val="D6D9D7"/>
                </a:solidFill>
                <a:latin typeface="Inter" pitchFamily="34" charset="0"/>
                <a:ea typeface="Inter" pitchFamily="34" charset="-122"/>
                <a:cs typeface="Inter" pitchFamily="34" charset="-120"/>
              </a:rPr>
              <a:t> for session-independent data storage</a:t>
            </a:r>
            <a:endParaRPr lang="en-US" sz="750" dirty="0"/>
          </a:p>
        </p:txBody>
      </p:sp>
      <p:sp>
        <p:nvSpPr>
          <p:cNvPr id="28" name="Text 23"/>
          <p:cNvSpPr/>
          <p:nvPr/>
        </p:nvSpPr>
        <p:spPr>
          <a:xfrm>
            <a:off x="4239697" y="5204698"/>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Optimistic UI updates for responsive user experience</a:t>
            </a:r>
            <a:endParaRPr lang="en-US" sz="750" dirty="0"/>
          </a:p>
        </p:txBody>
      </p:sp>
      <p:sp>
        <p:nvSpPr>
          <p:cNvPr id="29" name="Text 24"/>
          <p:cNvSpPr/>
          <p:nvPr/>
        </p:nvSpPr>
        <p:spPr>
          <a:xfrm>
            <a:off x="4239697" y="5397937"/>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JSON export capabilities for external integrations</a:t>
            </a:r>
            <a:endParaRPr lang="en-US" sz="750" dirty="0"/>
          </a:p>
        </p:txBody>
      </p:sp>
      <p:sp>
        <p:nvSpPr>
          <p:cNvPr id="30" name="Text 25"/>
          <p:cNvSpPr/>
          <p:nvPr/>
        </p:nvSpPr>
        <p:spPr>
          <a:xfrm>
            <a:off x="4239697" y="5591175"/>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Efficient state management using React Hooks</a:t>
            </a:r>
            <a:endParaRPr lang="en-US" sz="750" dirty="0"/>
          </a:p>
        </p:txBody>
      </p:sp>
      <p:sp>
        <p:nvSpPr>
          <p:cNvPr id="31" name="Shape 26"/>
          <p:cNvSpPr/>
          <p:nvPr/>
        </p:nvSpPr>
        <p:spPr>
          <a:xfrm>
            <a:off x="3728442" y="5963364"/>
            <a:ext cx="4207193" cy="1221343"/>
          </a:xfrm>
          <a:prstGeom prst="roundRect">
            <a:avLst>
              <a:gd name="adj" fmla="val 1219"/>
            </a:avLst>
          </a:prstGeom>
          <a:solidFill>
            <a:srgbClr val="2D3133"/>
          </a:solidFill>
          <a:ln w="15240">
            <a:solidFill>
              <a:srgbClr val="65696B"/>
            </a:solidFill>
            <a:prstDash val="solid"/>
          </a:ln>
        </p:spPr>
      </p:sp>
      <p:sp>
        <p:nvSpPr>
          <p:cNvPr id="32" name="Shape 27"/>
          <p:cNvSpPr/>
          <p:nvPr/>
        </p:nvSpPr>
        <p:spPr>
          <a:xfrm>
            <a:off x="3743682" y="5978604"/>
            <a:ext cx="396835" cy="1190863"/>
          </a:xfrm>
          <a:prstGeom prst="rect">
            <a:avLst/>
          </a:prstGeom>
          <a:solidFill>
            <a:srgbClr val="4C5052"/>
          </a:solidFill>
          <a:ln/>
        </p:spPr>
      </p:sp>
      <p:pic>
        <p:nvPicPr>
          <p:cNvPr id="3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67626" y="6499622"/>
            <a:ext cx="148828" cy="148828"/>
          </a:xfrm>
          <a:prstGeom prst="rect">
            <a:avLst/>
          </a:prstGeom>
        </p:spPr>
      </p:pic>
      <p:sp>
        <p:nvSpPr>
          <p:cNvPr id="34" name="Text 28"/>
          <p:cNvSpPr/>
          <p:nvPr/>
        </p:nvSpPr>
        <p:spPr>
          <a:xfrm>
            <a:off x="4239697" y="6077783"/>
            <a:ext cx="1268492"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Production Readiness</a:t>
            </a:r>
            <a:endParaRPr lang="en-US" sz="950" dirty="0"/>
          </a:p>
        </p:txBody>
      </p:sp>
      <p:sp>
        <p:nvSpPr>
          <p:cNvPr id="35" name="Text 29"/>
          <p:cNvSpPr/>
          <p:nvPr/>
        </p:nvSpPr>
        <p:spPr>
          <a:xfrm>
            <a:off x="4239697" y="6331982"/>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Comprehensive error handling with user-friendly messages</a:t>
            </a:r>
            <a:endParaRPr lang="en-US" sz="750" dirty="0"/>
          </a:p>
        </p:txBody>
      </p:sp>
      <p:sp>
        <p:nvSpPr>
          <p:cNvPr id="36" name="Text 30"/>
          <p:cNvSpPr/>
          <p:nvPr/>
        </p:nvSpPr>
        <p:spPr>
          <a:xfrm>
            <a:off x="4239697" y="6525220"/>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Loading states and progress indicators</a:t>
            </a:r>
            <a:endParaRPr lang="en-US" sz="750" dirty="0"/>
          </a:p>
        </p:txBody>
      </p:sp>
      <p:sp>
        <p:nvSpPr>
          <p:cNvPr id="37" name="Text 31"/>
          <p:cNvSpPr/>
          <p:nvPr/>
        </p:nvSpPr>
        <p:spPr>
          <a:xfrm>
            <a:off x="4239697" y="6718459"/>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Responsive design optimized for desktop workflows</a:t>
            </a:r>
            <a:endParaRPr lang="en-US" sz="750" dirty="0"/>
          </a:p>
        </p:txBody>
      </p:sp>
      <p:sp>
        <p:nvSpPr>
          <p:cNvPr id="38" name="Text 32"/>
          <p:cNvSpPr/>
          <p:nvPr/>
        </p:nvSpPr>
        <p:spPr>
          <a:xfrm>
            <a:off x="4239697" y="6911697"/>
            <a:ext cx="3581519"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Accessibility compliance with WCAG 2.1 standards</a:t>
            </a:r>
            <a:endParaRPr lang="en-US" sz="750" dirty="0"/>
          </a:p>
        </p:txBody>
      </p:sp>
      <p:pic>
        <p:nvPicPr>
          <p:cNvPr id="39" name="Image 4" descr="preencoded.png"/>
          <p:cNvPicPr>
            <a:picLocks noChangeAspect="1"/>
          </p:cNvPicPr>
          <p:nvPr/>
        </p:nvPicPr>
        <p:blipFill>
          <a:blip r:embed="rId11"/>
          <a:stretch>
            <a:fillRect/>
          </a:stretch>
        </p:blipFill>
        <p:spPr>
          <a:xfrm>
            <a:off x="8185190" y="1084898"/>
            <a:ext cx="2724150" cy="2724150"/>
          </a:xfrm>
          <a:prstGeom prst="rect">
            <a:avLst/>
          </a:prstGeom>
        </p:spPr>
      </p:pic>
      <p:sp>
        <p:nvSpPr>
          <p:cNvPr id="40" name="Shape 33"/>
          <p:cNvSpPr/>
          <p:nvPr/>
        </p:nvSpPr>
        <p:spPr>
          <a:xfrm>
            <a:off x="8185190" y="3920609"/>
            <a:ext cx="2724150" cy="1468517"/>
          </a:xfrm>
          <a:prstGeom prst="roundRect">
            <a:avLst>
              <a:gd name="adj" fmla="val 1014"/>
            </a:avLst>
          </a:prstGeom>
          <a:solidFill>
            <a:srgbClr val="110745"/>
          </a:solidFill>
          <a:ln/>
        </p:spPr>
      </p:sp>
      <p:pic>
        <p:nvPicPr>
          <p:cNvPr id="41" name="Image 5" descr="preencoded.png"/>
          <p:cNvPicPr>
            <a:picLocks noChangeAspect="1"/>
          </p:cNvPicPr>
          <p:nvPr/>
        </p:nvPicPr>
        <p:blipFill>
          <a:blip r:embed="rId12"/>
          <a:stretch>
            <a:fillRect/>
          </a:stretch>
        </p:blipFill>
        <p:spPr>
          <a:xfrm>
            <a:off x="8284369" y="4050387"/>
            <a:ext cx="155019" cy="123944"/>
          </a:xfrm>
          <a:prstGeom prst="rect">
            <a:avLst/>
          </a:prstGeom>
        </p:spPr>
      </p:pic>
      <p:sp>
        <p:nvSpPr>
          <p:cNvPr id="42" name="Text 34"/>
          <p:cNvSpPr/>
          <p:nvPr/>
        </p:nvSpPr>
        <p:spPr>
          <a:xfrm>
            <a:off x="8538567" y="4044553"/>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FFFFFF"/>
                </a:solidFill>
                <a:latin typeface="DM Sans Medium" pitchFamily="34" charset="0"/>
                <a:ea typeface="DM Sans Medium" pitchFamily="34" charset="-122"/>
                <a:cs typeface="DM Sans Medium" pitchFamily="34" charset="-120"/>
              </a:rPr>
              <a:t>Real AI, Real Impact</a:t>
            </a:r>
            <a:endParaRPr lang="en-US" sz="950" dirty="0"/>
          </a:p>
        </p:txBody>
      </p:sp>
      <p:sp>
        <p:nvSpPr>
          <p:cNvPr id="43" name="Text 35"/>
          <p:cNvSpPr/>
          <p:nvPr/>
        </p:nvSpPr>
        <p:spPr>
          <a:xfrm>
            <a:off x="8538567" y="4298752"/>
            <a:ext cx="2271593" cy="951548"/>
          </a:xfrm>
          <a:prstGeom prst="rect">
            <a:avLst/>
          </a:prstGeom>
          <a:noFill/>
          <a:ln/>
        </p:spPr>
        <p:txBody>
          <a:bodyPr wrap="square" lIns="0" tIns="0" rIns="0" bIns="0" rtlCol="0" anchor="t"/>
          <a:lstStyle/>
          <a:p>
            <a:pPr marL="0" indent="0" algn="l">
              <a:lnSpc>
                <a:spcPts val="1250"/>
              </a:lnSpc>
              <a:buNone/>
            </a:pPr>
            <a:r>
              <a:rPr lang="en-US" sz="750" dirty="0">
                <a:solidFill>
                  <a:srgbClr val="FFFFFF"/>
                </a:solidFill>
                <a:latin typeface="Inter" pitchFamily="34" charset="0"/>
                <a:ea typeface="Inter" pitchFamily="34" charset="-122"/>
                <a:cs typeface="Inter" pitchFamily="34" charset="-120"/>
              </a:rPr>
              <a:t>Unlike competitor solutions using simulated AI, LoanFlow AI makes actual GPT-4 API calls for document analysis. This provides genuine natural language understanding, contextual insights, and adaptive learning capabilities that improve over time.</a:t>
            </a:r>
            <a:endParaRPr lang="en-US" sz="750" dirty="0"/>
          </a:p>
        </p:txBody>
      </p:sp>
      <p:pic>
        <p:nvPicPr>
          <p:cNvPr id="44" name="Image 6" descr="preencoded.png"/>
          <p:cNvPicPr>
            <a:picLocks noChangeAspect="1"/>
          </p:cNvPicPr>
          <p:nvPr/>
        </p:nvPicPr>
        <p:blipFill>
          <a:blip r:embed="rId13"/>
          <a:stretch>
            <a:fillRect/>
          </a:stretch>
        </p:blipFill>
        <p:spPr>
          <a:xfrm>
            <a:off x="8185190" y="5500687"/>
            <a:ext cx="2724150" cy="2724150"/>
          </a:xfrm>
          <a:prstGeom prst="rect">
            <a:avLst/>
          </a:prstGeom>
        </p:spPr>
      </p:pic>
      <p:sp>
        <p:nvSpPr>
          <p:cNvPr id="45" name="Shape 36"/>
          <p:cNvSpPr/>
          <p:nvPr/>
        </p:nvSpPr>
        <p:spPr>
          <a:xfrm>
            <a:off x="8185190" y="8336399"/>
            <a:ext cx="2724150" cy="1309926"/>
          </a:xfrm>
          <a:prstGeom prst="roundRect">
            <a:avLst>
              <a:gd name="adj" fmla="val 1136"/>
            </a:avLst>
          </a:prstGeom>
          <a:solidFill>
            <a:srgbClr val="110745"/>
          </a:solidFill>
          <a:ln/>
        </p:spPr>
      </p:sp>
      <p:pic>
        <p:nvPicPr>
          <p:cNvPr id="46" name="Image 7" descr="preencoded.png"/>
          <p:cNvPicPr>
            <a:picLocks noChangeAspect="1"/>
          </p:cNvPicPr>
          <p:nvPr/>
        </p:nvPicPr>
        <p:blipFill>
          <a:blip r:embed="rId12"/>
          <a:stretch>
            <a:fillRect/>
          </a:stretch>
        </p:blipFill>
        <p:spPr>
          <a:xfrm>
            <a:off x="8284369" y="8466177"/>
            <a:ext cx="155019" cy="123944"/>
          </a:xfrm>
          <a:prstGeom prst="rect">
            <a:avLst/>
          </a:prstGeom>
        </p:spPr>
      </p:pic>
      <p:sp>
        <p:nvSpPr>
          <p:cNvPr id="47" name="Text 37"/>
          <p:cNvSpPr/>
          <p:nvPr/>
        </p:nvSpPr>
        <p:spPr>
          <a:xfrm>
            <a:off x="8538567" y="8460343"/>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FFFFFF"/>
                </a:solidFill>
                <a:latin typeface="DM Sans Medium" pitchFamily="34" charset="0"/>
                <a:ea typeface="DM Sans Medium" pitchFamily="34" charset="-122"/>
                <a:cs typeface="DM Sans Medium" pitchFamily="34" charset="-120"/>
              </a:rPr>
              <a:t>Enterprise Security</a:t>
            </a:r>
            <a:endParaRPr lang="en-US" sz="950" dirty="0"/>
          </a:p>
        </p:txBody>
      </p:sp>
      <p:sp>
        <p:nvSpPr>
          <p:cNvPr id="48" name="Text 38"/>
          <p:cNvSpPr/>
          <p:nvPr/>
        </p:nvSpPr>
        <p:spPr>
          <a:xfrm>
            <a:off x="8538567" y="8714542"/>
            <a:ext cx="2271593" cy="792956"/>
          </a:xfrm>
          <a:prstGeom prst="rect">
            <a:avLst/>
          </a:prstGeom>
          <a:noFill/>
          <a:ln/>
        </p:spPr>
        <p:txBody>
          <a:bodyPr wrap="square" lIns="0" tIns="0" rIns="0" bIns="0" rtlCol="0" anchor="t"/>
          <a:lstStyle/>
          <a:p>
            <a:pPr marL="0" indent="0" algn="l">
              <a:lnSpc>
                <a:spcPts val="1250"/>
              </a:lnSpc>
              <a:buNone/>
            </a:pPr>
            <a:r>
              <a:rPr lang="en-US" sz="750" dirty="0">
                <a:solidFill>
                  <a:srgbClr val="FFFFFF"/>
                </a:solidFill>
                <a:latin typeface="Inter" pitchFamily="34" charset="0"/>
                <a:ea typeface="Inter" pitchFamily="34" charset="-122"/>
                <a:cs typeface="Inter" pitchFamily="34" charset="-120"/>
              </a:rPr>
              <a:t>Built with financial services security requirements in mind, including encrypted data transmission, role-based access controls, audit logging, and compliance with SOC 2 and ISO 27001 standards.</a:t>
            </a:r>
            <a:endParaRPr lang="en-US" sz="750" dirty="0"/>
          </a:p>
        </p:txBody>
      </p:sp>
      <p:sp>
        <p:nvSpPr>
          <p:cNvPr id="49" name="Rectangle: Rounded Corners 48">
            <a:extLst>
              <a:ext uri="{FF2B5EF4-FFF2-40B4-BE49-F238E27FC236}">
                <a16:creationId xmlns:a16="http://schemas.microsoft.com/office/drawing/2014/main" id="{96D06A9C-E9D6-5496-DD52-D92EAD54C6DA}"/>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728442" y="272891"/>
            <a:ext cx="3705820" cy="310158"/>
          </a:xfrm>
          <a:prstGeom prst="rect">
            <a:avLst/>
          </a:prstGeom>
          <a:noFill/>
          <a:ln/>
        </p:spPr>
        <p:txBody>
          <a:bodyPr wrap="none" lIns="0" tIns="0" rIns="0" bIns="0" rtlCol="0" anchor="t"/>
          <a:lstStyle/>
          <a:p>
            <a:pPr marL="0" indent="0" algn="l">
              <a:lnSpc>
                <a:spcPts val="2400"/>
              </a:lnSpc>
              <a:buNone/>
            </a:pPr>
            <a:r>
              <a:rPr lang="en-US" sz="1950" dirty="0">
                <a:solidFill>
                  <a:srgbClr val="F7F7F8"/>
                </a:solidFill>
                <a:latin typeface="DM Sans Medium" pitchFamily="34" charset="0"/>
                <a:ea typeface="DM Sans Medium" pitchFamily="34" charset="-122"/>
                <a:cs typeface="DM Sans Medium" pitchFamily="34" charset="-120"/>
              </a:rPr>
              <a:t>Industry Impact &amp; Future Vision</a:t>
            </a:r>
            <a:endParaRPr lang="en-US" sz="1950" dirty="0"/>
          </a:p>
        </p:txBody>
      </p:sp>
      <p:pic>
        <p:nvPicPr>
          <p:cNvPr id="3" name="Image 0" descr="preencoded.png"/>
          <p:cNvPicPr>
            <a:picLocks noChangeAspect="1"/>
          </p:cNvPicPr>
          <p:nvPr/>
        </p:nvPicPr>
        <p:blipFill>
          <a:blip r:embed="rId3"/>
          <a:stretch>
            <a:fillRect/>
          </a:stretch>
        </p:blipFill>
        <p:spPr>
          <a:xfrm>
            <a:off x="3728442" y="781407"/>
            <a:ext cx="3586639" cy="396835"/>
          </a:xfrm>
          <a:prstGeom prst="rect">
            <a:avLst/>
          </a:prstGeom>
        </p:spPr>
      </p:pic>
      <p:sp>
        <p:nvSpPr>
          <p:cNvPr id="4" name="Text 1"/>
          <p:cNvSpPr/>
          <p:nvPr/>
        </p:nvSpPr>
        <p:spPr>
          <a:xfrm>
            <a:off x="3827621" y="1277422"/>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Risk Mitigation</a:t>
            </a:r>
            <a:endParaRPr lang="en-US" sz="950" dirty="0"/>
          </a:p>
        </p:txBody>
      </p:sp>
      <p:sp>
        <p:nvSpPr>
          <p:cNvPr id="5" name="Text 2"/>
          <p:cNvSpPr/>
          <p:nvPr/>
        </p:nvSpPr>
        <p:spPr>
          <a:xfrm>
            <a:off x="3827621" y="1491972"/>
            <a:ext cx="3388281" cy="634365"/>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Predictive analytics identify potential defaults 30-90 days in advance, enabling proactive intervention. Automated covenant monitoring prevents breaches through early warnings. Portfolio stress testing enables capital planning.</a:t>
            </a:r>
            <a:endParaRPr lang="en-US" sz="750" dirty="0"/>
          </a:p>
        </p:txBody>
      </p:sp>
      <p:pic>
        <p:nvPicPr>
          <p:cNvPr id="6" name="Image 1" descr="preencoded.png"/>
          <p:cNvPicPr>
            <a:picLocks noChangeAspect="1"/>
          </p:cNvPicPr>
          <p:nvPr/>
        </p:nvPicPr>
        <p:blipFill>
          <a:blip r:embed="rId4"/>
          <a:stretch>
            <a:fillRect/>
          </a:stretch>
        </p:blipFill>
        <p:spPr>
          <a:xfrm>
            <a:off x="7315081" y="781407"/>
            <a:ext cx="3586758" cy="396835"/>
          </a:xfrm>
          <a:prstGeom prst="rect">
            <a:avLst/>
          </a:prstGeom>
        </p:spPr>
      </p:pic>
      <p:sp>
        <p:nvSpPr>
          <p:cNvPr id="7" name="Text 3"/>
          <p:cNvSpPr/>
          <p:nvPr/>
        </p:nvSpPr>
        <p:spPr>
          <a:xfrm>
            <a:off x="7414260" y="1277422"/>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Standardization</a:t>
            </a:r>
            <a:endParaRPr lang="en-US" sz="950" dirty="0"/>
          </a:p>
        </p:txBody>
      </p:sp>
      <p:sp>
        <p:nvSpPr>
          <p:cNvPr id="8" name="Text 4"/>
          <p:cNvSpPr/>
          <p:nvPr/>
        </p:nvSpPr>
        <p:spPr>
          <a:xfrm>
            <a:off x="7414260" y="1491972"/>
            <a:ext cx="3388400" cy="475774"/>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LMA framework compliance ensures legal enforceability. Reduces negotiation friction in syndications. Facilitates cross-border lending through standardized documentation and processes.</a:t>
            </a:r>
            <a:endParaRPr lang="en-US" sz="750" dirty="0"/>
          </a:p>
        </p:txBody>
      </p:sp>
      <p:pic>
        <p:nvPicPr>
          <p:cNvPr id="9" name="Image 2" descr="preencoded.png"/>
          <p:cNvPicPr>
            <a:picLocks noChangeAspect="1"/>
          </p:cNvPicPr>
          <p:nvPr/>
        </p:nvPicPr>
        <p:blipFill>
          <a:blip r:embed="rId5"/>
          <a:stretch>
            <a:fillRect/>
          </a:stretch>
        </p:blipFill>
        <p:spPr>
          <a:xfrm>
            <a:off x="3728442" y="2225516"/>
            <a:ext cx="3586639" cy="396835"/>
          </a:xfrm>
          <a:prstGeom prst="rect">
            <a:avLst/>
          </a:prstGeom>
        </p:spPr>
      </p:pic>
      <p:sp>
        <p:nvSpPr>
          <p:cNvPr id="10" name="Text 5"/>
          <p:cNvSpPr/>
          <p:nvPr/>
        </p:nvSpPr>
        <p:spPr>
          <a:xfrm>
            <a:off x="3827621" y="2721531"/>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Market Efficiency</a:t>
            </a:r>
            <a:endParaRPr lang="en-US" sz="950" dirty="0"/>
          </a:p>
        </p:txBody>
      </p:sp>
      <p:sp>
        <p:nvSpPr>
          <p:cNvPr id="11" name="Text 6"/>
          <p:cNvSpPr/>
          <p:nvPr/>
        </p:nvSpPr>
        <p:spPr>
          <a:xfrm>
            <a:off x="3827621" y="2936081"/>
            <a:ext cx="3388281" cy="475774"/>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Transparent secondary market pricing improves liquidity. AI-powered valuations reduce information asymmetry. Faster trade execution through standardized workflows and automation.</a:t>
            </a:r>
            <a:endParaRPr lang="en-US" sz="750" dirty="0"/>
          </a:p>
        </p:txBody>
      </p:sp>
      <p:pic>
        <p:nvPicPr>
          <p:cNvPr id="12" name="Image 3" descr="preencoded.png"/>
          <p:cNvPicPr>
            <a:picLocks noChangeAspect="1"/>
          </p:cNvPicPr>
          <p:nvPr/>
        </p:nvPicPr>
        <p:blipFill>
          <a:blip r:embed="rId6"/>
          <a:stretch>
            <a:fillRect/>
          </a:stretch>
        </p:blipFill>
        <p:spPr>
          <a:xfrm>
            <a:off x="7315081" y="2225516"/>
            <a:ext cx="3586758" cy="396835"/>
          </a:xfrm>
          <a:prstGeom prst="rect">
            <a:avLst/>
          </a:prstGeom>
        </p:spPr>
      </p:pic>
      <p:sp>
        <p:nvSpPr>
          <p:cNvPr id="13" name="Text 7"/>
          <p:cNvSpPr/>
          <p:nvPr/>
        </p:nvSpPr>
        <p:spPr>
          <a:xfrm>
            <a:off x="7414260" y="2721531"/>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Sustainability</a:t>
            </a:r>
            <a:endParaRPr lang="en-US" sz="950" dirty="0"/>
          </a:p>
        </p:txBody>
      </p:sp>
      <p:sp>
        <p:nvSpPr>
          <p:cNvPr id="14" name="Text 8"/>
          <p:cNvSpPr/>
          <p:nvPr/>
        </p:nvSpPr>
        <p:spPr>
          <a:xfrm>
            <a:off x="7414260" y="2936081"/>
            <a:ext cx="3388400" cy="475774"/>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Enables green lending product development. Supports sustainability-linked loan frameworks. Tracks portfolio carbon footprint for regulatory reporting and investor disclosures.</a:t>
            </a:r>
            <a:endParaRPr lang="en-US" sz="750" dirty="0"/>
          </a:p>
        </p:txBody>
      </p:sp>
      <p:sp>
        <p:nvSpPr>
          <p:cNvPr id="15" name="Shape 9"/>
          <p:cNvSpPr/>
          <p:nvPr/>
        </p:nvSpPr>
        <p:spPr>
          <a:xfrm>
            <a:off x="3728442" y="3672170"/>
            <a:ext cx="7173397" cy="20003"/>
          </a:xfrm>
          <a:prstGeom prst="rect">
            <a:avLst/>
          </a:prstGeom>
          <a:solidFill>
            <a:srgbClr val="D6D9D7">
              <a:alpha val="50000"/>
            </a:srgbClr>
          </a:solidFill>
          <a:ln/>
        </p:spPr>
      </p:sp>
      <p:sp>
        <p:nvSpPr>
          <p:cNvPr id="16" name="Text 10"/>
          <p:cNvSpPr/>
          <p:nvPr/>
        </p:nvSpPr>
        <p:spPr>
          <a:xfrm>
            <a:off x="3728442" y="3840956"/>
            <a:ext cx="4171117" cy="248007"/>
          </a:xfrm>
          <a:prstGeom prst="rect">
            <a:avLst/>
          </a:prstGeom>
          <a:noFill/>
          <a:ln/>
        </p:spPr>
        <p:txBody>
          <a:bodyPr wrap="none" lIns="0" tIns="0" rIns="0" bIns="0" rtlCol="0" anchor="t"/>
          <a:lstStyle/>
          <a:p>
            <a:pPr marL="0" indent="0" algn="l">
              <a:lnSpc>
                <a:spcPts val="1950"/>
              </a:lnSpc>
              <a:buNone/>
            </a:pPr>
            <a:r>
              <a:rPr lang="en-US" sz="1550" dirty="0">
                <a:solidFill>
                  <a:srgbClr val="F7F7F8"/>
                </a:solidFill>
                <a:latin typeface="DM Sans Medium" pitchFamily="34" charset="0"/>
                <a:ea typeface="DM Sans Medium" pitchFamily="34" charset="-122"/>
                <a:cs typeface="DM Sans Medium" pitchFamily="34" charset="-120"/>
              </a:rPr>
              <a:t>Three-Phase Roadmap to Market Leadership</a:t>
            </a:r>
            <a:endParaRPr lang="en-US" sz="1550" dirty="0"/>
          </a:p>
        </p:txBody>
      </p:sp>
      <p:sp>
        <p:nvSpPr>
          <p:cNvPr id="17" name="Shape 11"/>
          <p:cNvSpPr/>
          <p:nvPr/>
        </p:nvSpPr>
        <p:spPr>
          <a:xfrm>
            <a:off x="3728442" y="6192083"/>
            <a:ext cx="7173397" cy="15240"/>
          </a:xfrm>
          <a:prstGeom prst="roundRect">
            <a:avLst>
              <a:gd name="adj" fmla="val 97675"/>
            </a:avLst>
          </a:prstGeom>
          <a:solidFill>
            <a:srgbClr val="65696B"/>
          </a:solidFill>
          <a:ln/>
        </p:spPr>
      </p:sp>
      <p:sp>
        <p:nvSpPr>
          <p:cNvPr id="18" name="Shape 12"/>
          <p:cNvSpPr/>
          <p:nvPr/>
        </p:nvSpPr>
        <p:spPr>
          <a:xfrm>
            <a:off x="5483066" y="5894487"/>
            <a:ext cx="15240" cy="297656"/>
          </a:xfrm>
          <a:prstGeom prst="roundRect">
            <a:avLst>
              <a:gd name="adj" fmla="val 97675"/>
            </a:avLst>
          </a:prstGeom>
          <a:solidFill>
            <a:srgbClr val="65696B"/>
          </a:solidFill>
          <a:ln/>
        </p:spPr>
      </p:sp>
      <p:sp>
        <p:nvSpPr>
          <p:cNvPr id="19" name="Shape 13"/>
          <p:cNvSpPr/>
          <p:nvPr/>
        </p:nvSpPr>
        <p:spPr>
          <a:xfrm>
            <a:off x="5379125" y="6080462"/>
            <a:ext cx="223242" cy="223242"/>
          </a:xfrm>
          <a:prstGeom prst="roundRect">
            <a:avLst>
              <a:gd name="adj" fmla="val 6668"/>
            </a:avLst>
          </a:prstGeom>
          <a:solidFill>
            <a:srgbClr val="4C5052"/>
          </a:solidFill>
          <a:ln/>
        </p:spPr>
      </p:sp>
      <p:sp>
        <p:nvSpPr>
          <p:cNvPr id="20" name="Text 14"/>
          <p:cNvSpPr/>
          <p:nvPr/>
        </p:nvSpPr>
        <p:spPr>
          <a:xfrm>
            <a:off x="5416272" y="6099036"/>
            <a:ext cx="148828" cy="185976"/>
          </a:xfrm>
          <a:prstGeom prst="rect">
            <a:avLst/>
          </a:prstGeom>
          <a:noFill/>
          <a:ln/>
        </p:spPr>
        <p:txBody>
          <a:bodyPr wrap="none" lIns="0" tIns="0" rIns="0" bIns="0" rtlCol="0" anchor="t"/>
          <a:lstStyle/>
          <a:p>
            <a:pPr marL="0" indent="0" algn="ctr">
              <a:lnSpc>
                <a:spcPts val="1150"/>
              </a:lnSpc>
              <a:buNone/>
            </a:pPr>
            <a:r>
              <a:rPr lang="en-US" sz="1150" dirty="0">
                <a:solidFill>
                  <a:srgbClr val="D6D9D7"/>
                </a:solidFill>
                <a:latin typeface="DM Sans Medium" pitchFamily="34" charset="0"/>
                <a:ea typeface="DM Sans Medium" pitchFamily="34" charset="-122"/>
                <a:cs typeface="DM Sans Medium" pitchFamily="34" charset="-120"/>
              </a:rPr>
              <a:t>1</a:t>
            </a:r>
            <a:endParaRPr lang="en-US" sz="1150" dirty="0"/>
          </a:p>
        </p:txBody>
      </p:sp>
      <p:sp>
        <p:nvSpPr>
          <p:cNvPr id="21" name="Text 15"/>
          <p:cNvSpPr/>
          <p:nvPr/>
        </p:nvSpPr>
        <p:spPr>
          <a:xfrm>
            <a:off x="4870609" y="4237792"/>
            <a:ext cx="1240393" cy="155019"/>
          </a:xfrm>
          <a:prstGeom prst="rect">
            <a:avLst/>
          </a:prstGeom>
          <a:noFill/>
          <a:ln/>
        </p:spPr>
        <p:txBody>
          <a:bodyPr wrap="none" lIns="0" tIns="0" rIns="0" bIns="0" rtlCol="0" anchor="t"/>
          <a:lstStyle/>
          <a:p>
            <a:pPr marL="0" indent="0" algn="ctr">
              <a:lnSpc>
                <a:spcPts val="1200"/>
              </a:lnSpc>
              <a:buNone/>
            </a:pPr>
            <a:r>
              <a:rPr lang="en-US" sz="950" dirty="0">
                <a:solidFill>
                  <a:srgbClr val="D6D9D7"/>
                </a:solidFill>
                <a:latin typeface="DM Sans Medium" pitchFamily="34" charset="0"/>
                <a:ea typeface="DM Sans Medium" pitchFamily="34" charset="-122"/>
                <a:cs typeface="DM Sans Medium" pitchFamily="34" charset="-120"/>
              </a:rPr>
              <a:t>Phase 1: Current</a:t>
            </a:r>
            <a:endParaRPr lang="en-US" sz="950" dirty="0"/>
          </a:p>
        </p:txBody>
      </p:sp>
      <p:sp>
        <p:nvSpPr>
          <p:cNvPr id="22" name="Text 16"/>
          <p:cNvSpPr/>
          <p:nvPr/>
        </p:nvSpPr>
        <p:spPr>
          <a:xfrm>
            <a:off x="3827621" y="4452342"/>
            <a:ext cx="3326368" cy="158591"/>
          </a:xfrm>
          <a:prstGeom prst="rect">
            <a:avLst/>
          </a:prstGeom>
          <a:noFill/>
          <a:ln/>
        </p:spPr>
        <p:txBody>
          <a:bodyPr wrap="none" lIns="0" tIns="0" rIns="0" bIns="0" rtlCol="0" anchor="t"/>
          <a:lstStyle/>
          <a:p>
            <a:pPr marL="0" indent="0" algn="ctr">
              <a:lnSpc>
                <a:spcPts val="1250"/>
              </a:lnSpc>
              <a:buNone/>
            </a:pPr>
            <a:r>
              <a:rPr lang="en-US" sz="750" b="1" dirty="0">
                <a:solidFill>
                  <a:srgbClr val="D6D9D7"/>
                </a:solidFill>
                <a:latin typeface="Inter" pitchFamily="34" charset="0"/>
                <a:ea typeface="Inter" pitchFamily="34" charset="-122"/>
                <a:cs typeface="Inter" pitchFamily="34" charset="-120"/>
              </a:rPr>
              <a:t>Q1-Q2 2025</a:t>
            </a:r>
            <a:endParaRPr lang="en-US" sz="750" dirty="0"/>
          </a:p>
        </p:txBody>
      </p:sp>
      <p:sp>
        <p:nvSpPr>
          <p:cNvPr id="23" name="Text 17"/>
          <p:cNvSpPr/>
          <p:nvPr/>
        </p:nvSpPr>
        <p:spPr>
          <a:xfrm>
            <a:off x="3827621" y="4670465"/>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Core loan management and trading features</a:t>
            </a:r>
            <a:endParaRPr lang="en-US" sz="750" dirty="0"/>
          </a:p>
        </p:txBody>
      </p:sp>
      <p:sp>
        <p:nvSpPr>
          <p:cNvPr id="24" name="Text 18"/>
          <p:cNvSpPr/>
          <p:nvPr/>
        </p:nvSpPr>
        <p:spPr>
          <a:xfrm>
            <a:off x="3827621" y="4863703"/>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AI document analysis with GPT-4</a:t>
            </a:r>
            <a:endParaRPr lang="en-US" sz="750" dirty="0"/>
          </a:p>
        </p:txBody>
      </p:sp>
      <p:sp>
        <p:nvSpPr>
          <p:cNvPr id="25" name="Text 19"/>
          <p:cNvSpPr/>
          <p:nvPr/>
        </p:nvSpPr>
        <p:spPr>
          <a:xfrm>
            <a:off x="3827621" y="5056942"/>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LMA compliance checking</a:t>
            </a:r>
            <a:endParaRPr lang="en-US" sz="750" dirty="0"/>
          </a:p>
        </p:txBody>
      </p:sp>
      <p:sp>
        <p:nvSpPr>
          <p:cNvPr id="26" name="Text 20"/>
          <p:cNvSpPr/>
          <p:nvPr/>
        </p:nvSpPr>
        <p:spPr>
          <a:xfrm>
            <a:off x="3827621" y="5250180"/>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Predictive analytics engine</a:t>
            </a:r>
            <a:endParaRPr lang="en-US" sz="750" dirty="0"/>
          </a:p>
        </p:txBody>
      </p:sp>
      <p:sp>
        <p:nvSpPr>
          <p:cNvPr id="27" name="Text 21"/>
          <p:cNvSpPr/>
          <p:nvPr/>
        </p:nvSpPr>
        <p:spPr>
          <a:xfrm>
            <a:off x="3827621" y="5443418"/>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Comprehensive ESG scoring</a:t>
            </a:r>
            <a:endParaRPr lang="en-US" sz="750" dirty="0"/>
          </a:p>
        </p:txBody>
      </p:sp>
      <p:sp>
        <p:nvSpPr>
          <p:cNvPr id="28" name="Text 22"/>
          <p:cNvSpPr/>
          <p:nvPr/>
        </p:nvSpPr>
        <p:spPr>
          <a:xfrm>
            <a:off x="3827621" y="5636657"/>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Beta deployment with 3-5 pilot institutions</a:t>
            </a:r>
            <a:endParaRPr lang="en-US" sz="750" dirty="0"/>
          </a:p>
        </p:txBody>
      </p:sp>
      <p:sp>
        <p:nvSpPr>
          <p:cNvPr id="29" name="Shape 23"/>
          <p:cNvSpPr/>
          <p:nvPr/>
        </p:nvSpPr>
        <p:spPr>
          <a:xfrm>
            <a:off x="7307342" y="6192024"/>
            <a:ext cx="15240" cy="297656"/>
          </a:xfrm>
          <a:prstGeom prst="roundRect">
            <a:avLst>
              <a:gd name="adj" fmla="val 97675"/>
            </a:avLst>
          </a:prstGeom>
          <a:solidFill>
            <a:srgbClr val="65696B"/>
          </a:solidFill>
          <a:ln/>
        </p:spPr>
      </p:sp>
      <p:sp>
        <p:nvSpPr>
          <p:cNvPr id="30" name="Shape 24"/>
          <p:cNvSpPr/>
          <p:nvPr/>
        </p:nvSpPr>
        <p:spPr>
          <a:xfrm>
            <a:off x="7203400" y="6080462"/>
            <a:ext cx="223242" cy="223242"/>
          </a:xfrm>
          <a:prstGeom prst="roundRect">
            <a:avLst>
              <a:gd name="adj" fmla="val 6668"/>
            </a:avLst>
          </a:prstGeom>
          <a:solidFill>
            <a:srgbClr val="4C5052"/>
          </a:solidFill>
          <a:ln/>
        </p:spPr>
      </p:sp>
      <p:sp>
        <p:nvSpPr>
          <p:cNvPr id="31" name="Text 25"/>
          <p:cNvSpPr/>
          <p:nvPr/>
        </p:nvSpPr>
        <p:spPr>
          <a:xfrm>
            <a:off x="7240548" y="6099036"/>
            <a:ext cx="148828" cy="185976"/>
          </a:xfrm>
          <a:prstGeom prst="rect">
            <a:avLst/>
          </a:prstGeom>
          <a:noFill/>
          <a:ln/>
        </p:spPr>
        <p:txBody>
          <a:bodyPr wrap="none" lIns="0" tIns="0" rIns="0" bIns="0" rtlCol="0" anchor="t"/>
          <a:lstStyle/>
          <a:p>
            <a:pPr marL="0" indent="0" algn="ctr">
              <a:lnSpc>
                <a:spcPts val="1150"/>
              </a:lnSpc>
              <a:buNone/>
            </a:pPr>
            <a:r>
              <a:rPr lang="en-US" sz="1150" dirty="0">
                <a:solidFill>
                  <a:srgbClr val="D6D9D7"/>
                </a:solidFill>
                <a:latin typeface="DM Sans Medium" pitchFamily="34" charset="0"/>
                <a:ea typeface="DM Sans Medium" pitchFamily="34" charset="-122"/>
                <a:cs typeface="DM Sans Medium" pitchFamily="34" charset="-120"/>
              </a:rPr>
              <a:t>2</a:t>
            </a:r>
            <a:endParaRPr lang="en-US" sz="1150" dirty="0"/>
          </a:p>
        </p:txBody>
      </p:sp>
      <p:sp>
        <p:nvSpPr>
          <p:cNvPr id="32" name="Text 26"/>
          <p:cNvSpPr/>
          <p:nvPr/>
        </p:nvSpPr>
        <p:spPr>
          <a:xfrm>
            <a:off x="6694884" y="6588919"/>
            <a:ext cx="1240393" cy="155019"/>
          </a:xfrm>
          <a:prstGeom prst="rect">
            <a:avLst/>
          </a:prstGeom>
          <a:noFill/>
          <a:ln/>
        </p:spPr>
        <p:txBody>
          <a:bodyPr wrap="none" lIns="0" tIns="0" rIns="0" bIns="0" rtlCol="0" anchor="t"/>
          <a:lstStyle/>
          <a:p>
            <a:pPr marL="0" indent="0" algn="ctr">
              <a:lnSpc>
                <a:spcPts val="1200"/>
              </a:lnSpc>
              <a:buNone/>
            </a:pPr>
            <a:r>
              <a:rPr lang="en-US" sz="950" dirty="0">
                <a:solidFill>
                  <a:srgbClr val="D6D9D7"/>
                </a:solidFill>
                <a:latin typeface="DM Sans Medium" pitchFamily="34" charset="0"/>
                <a:ea typeface="DM Sans Medium" pitchFamily="34" charset="-122"/>
                <a:cs typeface="DM Sans Medium" pitchFamily="34" charset="-120"/>
              </a:rPr>
              <a:t>Phase 2: Expansion</a:t>
            </a:r>
            <a:endParaRPr lang="en-US" sz="950" dirty="0"/>
          </a:p>
        </p:txBody>
      </p:sp>
      <p:sp>
        <p:nvSpPr>
          <p:cNvPr id="33" name="Text 27"/>
          <p:cNvSpPr/>
          <p:nvPr/>
        </p:nvSpPr>
        <p:spPr>
          <a:xfrm>
            <a:off x="5651897" y="6803469"/>
            <a:ext cx="3326368" cy="158591"/>
          </a:xfrm>
          <a:prstGeom prst="rect">
            <a:avLst/>
          </a:prstGeom>
          <a:noFill/>
          <a:ln/>
        </p:spPr>
        <p:txBody>
          <a:bodyPr wrap="none" lIns="0" tIns="0" rIns="0" bIns="0" rtlCol="0" anchor="t"/>
          <a:lstStyle/>
          <a:p>
            <a:pPr marL="0" indent="0" algn="ctr">
              <a:lnSpc>
                <a:spcPts val="1250"/>
              </a:lnSpc>
              <a:buNone/>
            </a:pPr>
            <a:r>
              <a:rPr lang="en-US" sz="750" b="1" dirty="0">
                <a:solidFill>
                  <a:srgbClr val="D6D9D7"/>
                </a:solidFill>
                <a:latin typeface="Inter" pitchFamily="34" charset="0"/>
                <a:ea typeface="Inter" pitchFamily="34" charset="-122"/>
                <a:cs typeface="Inter" pitchFamily="34" charset="-120"/>
              </a:rPr>
              <a:t>Q3 2025 - Q1 2026</a:t>
            </a:r>
            <a:endParaRPr lang="en-US" sz="750" dirty="0"/>
          </a:p>
        </p:txBody>
      </p:sp>
      <p:sp>
        <p:nvSpPr>
          <p:cNvPr id="34" name="Text 28"/>
          <p:cNvSpPr/>
          <p:nvPr/>
        </p:nvSpPr>
        <p:spPr>
          <a:xfrm>
            <a:off x="5651897" y="7021592"/>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Syndication workflow management</a:t>
            </a:r>
            <a:endParaRPr lang="en-US" sz="750" dirty="0"/>
          </a:p>
        </p:txBody>
      </p:sp>
      <p:sp>
        <p:nvSpPr>
          <p:cNvPr id="35" name="Text 29"/>
          <p:cNvSpPr/>
          <p:nvPr/>
        </p:nvSpPr>
        <p:spPr>
          <a:xfrm>
            <a:off x="5651897" y="7214830"/>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Multi-party collaboration tools</a:t>
            </a:r>
            <a:endParaRPr lang="en-US" sz="750" dirty="0"/>
          </a:p>
        </p:txBody>
      </p:sp>
      <p:sp>
        <p:nvSpPr>
          <p:cNvPr id="36" name="Text 30"/>
          <p:cNvSpPr/>
          <p:nvPr/>
        </p:nvSpPr>
        <p:spPr>
          <a:xfrm>
            <a:off x="5651897" y="7408069"/>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Automated regulatory reporting</a:t>
            </a:r>
            <a:endParaRPr lang="en-US" sz="750" dirty="0"/>
          </a:p>
        </p:txBody>
      </p:sp>
      <p:sp>
        <p:nvSpPr>
          <p:cNvPr id="37" name="Text 31"/>
          <p:cNvSpPr/>
          <p:nvPr/>
        </p:nvSpPr>
        <p:spPr>
          <a:xfrm>
            <a:off x="5651897" y="7601307"/>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Integration with loan pricing services</a:t>
            </a:r>
            <a:endParaRPr lang="en-US" sz="750" dirty="0"/>
          </a:p>
        </p:txBody>
      </p:sp>
      <p:sp>
        <p:nvSpPr>
          <p:cNvPr id="38" name="Text 32"/>
          <p:cNvSpPr/>
          <p:nvPr/>
        </p:nvSpPr>
        <p:spPr>
          <a:xfrm>
            <a:off x="5651897" y="7794546"/>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Native mobile applications (iOS/Android)</a:t>
            </a:r>
            <a:endParaRPr lang="en-US" sz="750" dirty="0"/>
          </a:p>
        </p:txBody>
      </p:sp>
      <p:sp>
        <p:nvSpPr>
          <p:cNvPr id="39" name="Text 33"/>
          <p:cNvSpPr/>
          <p:nvPr/>
        </p:nvSpPr>
        <p:spPr>
          <a:xfrm>
            <a:off x="5651897" y="7987784"/>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European and Asia-Pacific market entry</a:t>
            </a:r>
            <a:endParaRPr lang="en-US" sz="750" dirty="0"/>
          </a:p>
        </p:txBody>
      </p:sp>
      <p:sp>
        <p:nvSpPr>
          <p:cNvPr id="40" name="Shape 34"/>
          <p:cNvSpPr/>
          <p:nvPr/>
        </p:nvSpPr>
        <p:spPr>
          <a:xfrm>
            <a:off x="9131737" y="5894487"/>
            <a:ext cx="15240" cy="297656"/>
          </a:xfrm>
          <a:prstGeom prst="roundRect">
            <a:avLst>
              <a:gd name="adj" fmla="val 97675"/>
            </a:avLst>
          </a:prstGeom>
          <a:solidFill>
            <a:srgbClr val="65696B"/>
          </a:solidFill>
          <a:ln/>
        </p:spPr>
      </p:sp>
      <p:sp>
        <p:nvSpPr>
          <p:cNvPr id="41" name="Shape 35"/>
          <p:cNvSpPr/>
          <p:nvPr/>
        </p:nvSpPr>
        <p:spPr>
          <a:xfrm>
            <a:off x="9027795" y="6080462"/>
            <a:ext cx="223242" cy="223242"/>
          </a:xfrm>
          <a:prstGeom prst="roundRect">
            <a:avLst>
              <a:gd name="adj" fmla="val 6668"/>
            </a:avLst>
          </a:prstGeom>
          <a:solidFill>
            <a:srgbClr val="4C5052"/>
          </a:solidFill>
          <a:ln/>
        </p:spPr>
      </p:sp>
      <p:sp>
        <p:nvSpPr>
          <p:cNvPr id="42" name="Text 36"/>
          <p:cNvSpPr/>
          <p:nvPr/>
        </p:nvSpPr>
        <p:spPr>
          <a:xfrm>
            <a:off x="9064943" y="6099036"/>
            <a:ext cx="148828" cy="185976"/>
          </a:xfrm>
          <a:prstGeom prst="rect">
            <a:avLst/>
          </a:prstGeom>
          <a:noFill/>
          <a:ln/>
        </p:spPr>
        <p:txBody>
          <a:bodyPr wrap="none" lIns="0" tIns="0" rIns="0" bIns="0" rtlCol="0" anchor="t"/>
          <a:lstStyle/>
          <a:p>
            <a:pPr marL="0" indent="0" algn="ctr">
              <a:lnSpc>
                <a:spcPts val="1150"/>
              </a:lnSpc>
              <a:buNone/>
            </a:pPr>
            <a:r>
              <a:rPr lang="en-US" sz="1150" dirty="0">
                <a:solidFill>
                  <a:srgbClr val="D6D9D7"/>
                </a:solidFill>
                <a:latin typeface="DM Sans Medium" pitchFamily="34" charset="0"/>
                <a:ea typeface="DM Sans Medium" pitchFamily="34" charset="-122"/>
                <a:cs typeface="DM Sans Medium" pitchFamily="34" charset="-120"/>
              </a:rPr>
              <a:t>3</a:t>
            </a:r>
            <a:endParaRPr lang="en-US" sz="1150" dirty="0"/>
          </a:p>
        </p:txBody>
      </p:sp>
      <p:sp>
        <p:nvSpPr>
          <p:cNvPr id="43" name="Text 37"/>
          <p:cNvSpPr/>
          <p:nvPr/>
        </p:nvSpPr>
        <p:spPr>
          <a:xfrm>
            <a:off x="8519279" y="4237792"/>
            <a:ext cx="1240393" cy="155019"/>
          </a:xfrm>
          <a:prstGeom prst="rect">
            <a:avLst/>
          </a:prstGeom>
          <a:noFill/>
          <a:ln/>
        </p:spPr>
        <p:txBody>
          <a:bodyPr wrap="none" lIns="0" tIns="0" rIns="0" bIns="0" rtlCol="0" anchor="t"/>
          <a:lstStyle/>
          <a:p>
            <a:pPr marL="0" indent="0" algn="ctr">
              <a:lnSpc>
                <a:spcPts val="1200"/>
              </a:lnSpc>
              <a:buNone/>
            </a:pPr>
            <a:r>
              <a:rPr lang="en-US" sz="950" dirty="0">
                <a:solidFill>
                  <a:srgbClr val="D6D9D7"/>
                </a:solidFill>
                <a:latin typeface="DM Sans Medium" pitchFamily="34" charset="0"/>
                <a:ea typeface="DM Sans Medium" pitchFamily="34" charset="-122"/>
                <a:cs typeface="DM Sans Medium" pitchFamily="34" charset="-120"/>
              </a:rPr>
              <a:t>Phase 3: Ecosystem</a:t>
            </a:r>
            <a:endParaRPr lang="en-US" sz="950" dirty="0"/>
          </a:p>
        </p:txBody>
      </p:sp>
      <p:sp>
        <p:nvSpPr>
          <p:cNvPr id="44" name="Text 38"/>
          <p:cNvSpPr/>
          <p:nvPr/>
        </p:nvSpPr>
        <p:spPr>
          <a:xfrm>
            <a:off x="7476292" y="4452342"/>
            <a:ext cx="3326368" cy="158591"/>
          </a:xfrm>
          <a:prstGeom prst="rect">
            <a:avLst/>
          </a:prstGeom>
          <a:noFill/>
          <a:ln/>
        </p:spPr>
        <p:txBody>
          <a:bodyPr wrap="none" lIns="0" tIns="0" rIns="0" bIns="0" rtlCol="0" anchor="t"/>
          <a:lstStyle/>
          <a:p>
            <a:pPr marL="0" indent="0" algn="ctr">
              <a:lnSpc>
                <a:spcPts val="1250"/>
              </a:lnSpc>
              <a:buNone/>
            </a:pPr>
            <a:r>
              <a:rPr lang="en-US" sz="750" b="1" dirty="0">
                <a:solidFill>
                  <a:srgbClr val="D6D9D7"/>
                </a:solidFill>
                <a:latin typeface="Inter" pitchFamily="34" charset="0"/>
                <a:ea typeface="Inter" pitchFamily="34" charset="-122"/>
                <a:cs typeface="Inter" pitchFamily="34" charset="-120"/>
              </a:rPr>
              <a:t>Q2 2026 - Q4 2026</a:t>
            </a:r>
            <a:endParaRPr lang="en-US" sz="750" dirty="0"/>
          </a:p>
        </p:txBody>
      </p:sp>
      <p:sp>
        <p:nvSpPr>
          <p:cNvPr id="45" name="Text 39"/>
          <p:cNvSpPr/>
          <p:nvPr/>
        </p:nvSpPr>
        <p:spPr>
          <a:xfrm>
            <a:off x="7476292" y="4670465"/>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Blockchain-based loan registry</a:t>
            </a:r>
            <a:endParaRPr lang="en-US" sz="750" dirty="0"/>
          </a:p>
        </p:txBody>
      </p:sp>
      <p:sp>
        <p:nvSpPr>
          <p:cNvPr id="46" name="Text 40"/>
          <p:cNvSpPr/>
          <p:nvPr/>
        </p:nvSpPr>
        <p:spPr>
          <a:xfrm>
            <a:off x="7476292" y="4863703"/>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Smart contract automation for settlements</a:t>
            </a:r>
            <a:endParaRPr lang="en-US" sz="750" dirty="0"/>
          </a:p>
        </p:txBody>
      </p:sp>
      <p:sp>
        <p:nvSpPr>
          <p:cNvPr id="47" name="Text 41"/>
          <p:cNvSpPr/>
          <p:nvPr/>
        </p:nvSpPr>
        <p:spPr>
          <a:xfrm>
            <a:off x="7476292" y="5056942"/>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Advanced ML models for credit scoring</a:t>
            </a:r>
            <a:endParaRPr lang="en-US" sz="750" dirty="0"/>
          </a:p>
        </p:txBody>
      </p:sp>
      <p:sp>
        <p:nvSpPr>
          <p:cNvPr id="48" name="Text 42"/>
          <p:cNvSpPr/>
          <p:nvPr/>
        </p:nvSpPr>
        <p:spPr>
          <a:xfrm>
            <a:off x="7476292" y="5250180"/>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Real-time market data feeds</a:t>
            </a:r>
            <a:endParaRPr lang="en-US" sz="750" dirty="0"/>
          </a:p>
        </p:txBody>
      </p:sp>
      <p:sp>
        <p:nvSpPr>
          <p:cNvPr id="49" name="Text 43"/>
          <p:cNvSpPr/>
          <p:nvPr/>
        </p:nvSpPr>
        <p:spPr>
          <a:xfrm>
            <a:off x="7476292" y="5443418"/>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Open API ecosystem for third-party integrations</a:t>
            </a:r>
            <a:endParaRPr lang="en-US" sz="750" dirty="0"/>
          </a:p>
        </p:txBody>
      </p:sp>
      <p:sp>
        <p:nvSpPr>
          <p:cNvPr id="50" name="Text 44"/>
          <p:cNvSpPr/>
          <p:nvPr/>
        </p:nvSpPr>
        <p:spPr>
          <a:xfrm>
            <a:off x="7476292" y="5636657"/>
            <a:ext cx="3326368"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6D9D7"/>
                </a:solidFill>
                <a:latin typeface="Inter" pitchFamily="34" charset="0"/>
                <a:ea typeface="Inter" pitchFamily="34" charset="-122"/>
                <a:cs typeface="Inter" pitchFamily="34" charset="-120"/>
              </a:rPr>
              <a:t>Industry-wide adoption targeting 100+ institutions</a:t>
            </a:r>
            <a:endParaRPr lang="en-US" sz="750" dirty="0"/>
          </a:p>
        </p:txBody>
      </p:sp>
      <p:sp>
        <p:nvSpPr>
          <p:cNvPr id="51" name="Rectangle: Rounded Corners 50">
            <a:extLst>
              <a:ext uri="{FF2B5EF4-FFF2-40B4-BE49-F238E27FC236}">
                <a16:creationId xmlns:a16="http://schemas.microsoft.com/office/drawing/2014/main" id="{AABF13A9-B277-E54D-B321-B4343DA44EA6}"/>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165634" y="407075"/>
            <a:ext cx="1417915" cy="215622"/>
          </a:xfrm>
          <a:prstGeom prst="roundRect">
            <a:avLst>
              <a:gd name="adj" fmla="val 6390"/>
            </a:avLst>
          </a:prstGeom>
          <a:solidFill>
            <a:srgbClr val="110745"/>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34452" y="468987"/>
            <a:ext cx="91797" cy="91797"/>
          </a:xfrm>
          <a:prstGeom prst="rect">
            <a:avLst/>
          </a:prstGeom>
        </p:spPr>
      </p:pic>
      <p:sp>
        <p:nvSpPr>
          <p:cNvPr id="4" name="Text 1"/>
          <p:cNvSpPr/>
          <p:nvPr/>
        </p:nvSpPr>
        <p:spPr>
          <a:xfrm>
            <a:off x="3372088" y="441484"/>
            <a:ext cx="1142643" cy="146804"/>
          </a:xfrm>
          <a:prstGeom prst="rect">
            <a:avLst/>
          </a:prstGeom>
          <a:noFill/>
          <a:ln/>
        </p:spPr>
        <p:txBody>
          <a:bodyPr wrap="none" lIns="0" tIns="0" rIns="0" bIns="0" rtlCol="0" anchor="t"/>
          <a:lstStyle/>
          <a:p>
            <a:pPr marL="0" indent="0" algn="l">
              <a:lnSpc>
                <a:spcPts val="1150"/>
              </a:lnSpc>
              <a:buNone/>
            </a:pPr>
            <a:r>
              <a:rPr lang="en-US" sz="700" dirty="0">
                <a:solidFill>
                  <a:srgbClr val="D6D9D7"/>
                </a:solidFill>
                <a:latin typeface="Inter" pitchFamily="34" charset="0"/>
                <a:ea typeface="Inter" pitchFamily="34" charset="-122"/>
                <a:cs typeface="Inter" pitchFamily="34" charset="-120"/>
              </a:rPr>
              <a:t>WHY LOANFLOW AI WINS</a:t>
            </a:r>
            <a:endParaRPr lang="en-US" sz="700" dirty="0"/>
          </a:p>
        </p:txBody>
      </p:sp>
      <p:sp>
        <p:nvSpPr>
          <p:cNvPr id="5" name="Text 2"/>
          <p:cNvSpPr/>
          <p:nvPr/>
        </p:nvSpPr>
        <p:spPr>
          <a:xfrm>
            <a:off x="3165634" y="668536"/>
            <a:ext cx="5877163" cy="358735"/>
          </a:xfrm>
          <a:prstGeom prst="rect">
            <a:avLst/>
          </a:prstGeom>
          <a:noFill/>
          <a:ln/>
        </p:spPr>
        <p:txBody>
          <a:bodyPr wrap="none" lIns="0" tIns="0" rIns="0" bIns="0" rtlCol="0" anchor="t"/>
          <a:lstStyle/>
          <a:p>
            <a:pPr marL="0" indent="0" algn="l">
              <a:lnSpc>
                <a:spcPts val="2800"/>
              </a:lnSpc>
              <a:buNone/>
            </a:pPr>
            <a:r>
              <a:rPr lang="en-US" sz="2250" dirty="0">
                <a:solidFill>
                  <a:srgbClr val="F7F7F8"/>
                </a:solidFill>
                <a:latin typeface="DM Sans Medium" pitchFamily="34" charset="0"/>
                <a:ea typeface="DM Sans Medium" pitchFamily="34" charset="-122"/>
                <a:cs typeface="DM Sans Medium" pitchFamily="34" charset="-120"/>
              </a:rPr>
              <a:t>Competitive Advantages &amp; Winning Criteria</a:t>
            </a:r>
            <a:endParaRPr lang="en-US" sz="2250" dirty="0"/>
          </a:p>
        </p:txBody>
      </p:sp>
      <p:sp>
        <p:nvSpPr>
          <p:cNvPr id="6" name="Shape 3"/>
          <p:cNvSpPr/>
          <p:nvPr/>
        </p:nvSpPr>
        <p:spPr>
          <a:xfrm>
            <a:off x="3165634" y="1199436"/>
            <a:ext cx="4092178" cy="1671161"/>
          </a:xfrm>
          <a:prstGeom prst="roundRect">
            <a:avLst>
              <a:gd name="adj" fmla="val 1031"/>
            </a:avLst>
          </a:prstGeom>
          <a:solidFill>
            <a:srgbClr val="4C5052"/>
          </a:solidFill>
          <a:ln/>
        </p:spPr>
      </p:sp>
      <p:sp>
        <p:nvSpPr>
          <p:cNvPr id="7" name="Shape 4"/>
          <p:cNvSpPr/>
          <p:nvPr/>
        </p:nvSpPr>
        <p:spPr>
          <a:xfrm>
            <a:off x="3280410" y="1314212"/>
            <a:ext cx="344329" cy="344329"/>
          </a:xfrm>
          <a:prstGeom prst="roundRect">
            <a:avLst>
              <a:gd name="adj" fmla="val 26553342"/>
            </a:avLst>
          </a:prstGeom>
          <a:solidFill>
            <a:srgbClr val="AC9EF5"/>
          </a:solidFill>
          <a:ln/>
        </p:spPr>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5065" y="1408867"/>
            <a:ext cx="154900" cy="154900"/>
          </a:xfrm>
          <a:prstGeom prst="rect">
            <a:avLst/>
          </a:prstGeom>
        </p:spPr>
      </p:pic>
      <p:sp>
        <p:nvSpPr>
          <p:cNvPr id="9" name="Text 5"/>
          <p:cNvSpPr/>
          <p:nvPr/>
        </p:nvSpPr>
        <p:spPr>
          <a:xfrm>
            <a:off x="3280410" y="1773317"/>
            <a:ext cx="1435060" cy="179308"/>
          </a:xfrm>
          <a:prstGeom prst="rect">
            <a:avLst/>
          </a:prstGeom>
          <a:noFill/>
          <a:ln/>
        </p:spPr>
        <p:txBody>
          <a:bodyPr wrap="none" lIns="0" tIns="0" rIns="0" bIns="0" rtlCol="0" anchor="t"/>
          <a:lstStyle/>
          <a:p>
            <a:pPr marL="0" indent="0" algn="l">
              <a:lnSpc>
                <a:spcPts val="1400"/>
              </a:lnSpc>
              <a:buNone/>
            </a:pPr>
            <a:r>
              <a:rPr lang="en-US" sz="1100" dirty="0">
                <a:solidFill>
                  <a:srgbClr val="D6D9D7"/>
                </a:solidFill>
                <a:latin typeface="DM Sans Medium" pitchFamily="34" charset="0"/>
                <a:ea typeface="DM Sans Medium" pitchFamily="34" charset="-122"/>
                <a:cs typeface="DM Sans Medium" pitchFamily="34" charset="-120"/>
              </a:rPr>
              <a:t>Design Excellence</a:t>
            </a:r>
            <a:endParaRPr lang="en-US" sz="1100" dirty="0"/>
          </a:p>
        </p:txBody>
      </p:sp>
      <p:sp>
        <p:nvSpPr>
          <p:cNvPr id="10" name="Text 6"/>
          <p:cNvSpPr/>
          <p:nvPr/>
        </p:nvSpPr>
        <p:spPr>
          <a:xfrm>
            <a:off x="3280410" y="2021443"/>
            <a:ext cx="3862626" cy="734378"/>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Professional, banking-grade interface with intuitive navigation across complex features. Data-dense yet beautifully organized. Accessible to both technical and non-technical users. Modern design system consistent with enterprise expectations.</a:t>
            </a:r>
            <a:endParaRPr lang="en-US" sz="900" dirty="0"/>
          </a:p>
        </p:txBody>
      </p:sp>
      <p:sp>
        <p:nvSpPr>
          <p:cNvPr id="11" name="Shape 7"/>
          <p:cNvSpPr/>
          <p:nvPr/>
        </p:nvSpPr>
        <p:spPr>
          <a:xfrm>
            <a:off x="7372588" y="1199436"/>
            <a:ext cx="4092178" cy="1671161"/>
          </a:xfrm>
          <a:prstGeom prst="roundRect">
            <a:avLst>
              <a:gd name="adj" fmla="val 1031"/>
            </a:avLst>
          </a:prstGeom>
          <a:solidFill>
            <a:srgbClr val="4C5052"/>
          </a:solidFill>
          <a:ln/>
        </p:spPr>
      </p:sp>
      <p:sp>
        <p:nvSpPr>
          <p:cNvPr id="12" name="Shape 8"/>
          <p:cNvSpPr/>
          <p:nvPr/>
        </p:nvSpPr>
        <p:spPr>
          <a:xfrm>
            <a:off x="7487364" y="1314212"/>
            <a:ext cx="344329" cy="344329"/>
          </a:xfrm>
          <a:prstGeom prst="roundRect">
            <a:avLst>
              <a:gd name="adj" fmla="val 26553342"/>
            </a:avLst>
          </a:prstGeom>
          <a:solidFill>
            <a:srgbClr val="AC9EF5"/>
          </a:solidFill>
          <a:ln/>
        </p:spPr>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2019" y="1408867"/>
            <a:ext cx="154900" cy="154900"/>
          </a:xfrm>
          <a:prstGeom prst="rect">
            <a:avLst/>
          </a:prstGeom>
        </p:spPr>
      </p:pic>
      <p:sp>
        <p:nvSpPr>
          <p:cNvPr id="14" name="Text 9"/>
          <p:cNvSpPr/>
          <p:nvPr/>
        </p:nvSpPr>
        <p:spPr>
          <a:xfrm>
            <a:off x="7487364" y="1773317"/>
            <a:ext cx="1527453" cy="179308"/>
          </a:xfrm>
          <a:prstGeom prst="rect">
            <a:avLst/>
          </a:prstGeom>
          <a:noFill/>
          <a:ln/>
        </p:spPr>
        <p:txBody>
          <a:bodyPr wrap="none" lIns="0" tIns="0" rIns="0" bIns="0" rtlCol="0" anchor="t"/>
          <a:lstStyle/>
          <a:p>
            <a:pPr marL="0" indent="0" algn="l">
              <a:lnSpc>
                <a:spcPts val="1400"/>
              </a:lnSpc>
              <a:buNone/>
            </a:pPr>
            <a:r>
              <a:rPr lang="en-US" sz="1100" dirty="0">
                <a:solidFill>
                  <a:srgbClr val="D6D9D7"/>
                </a:solidFill>
                <a:latin typeface="DM Sans Medium" pitchFamily="34" charset="0"/>
                <a:ea typeface="DM Sans Medium" pitchFamily="34" charset="-122"/>
                <a:cs typeface="DM Sans Medium" pitchFamily="34" charset="-120"/>
              </a:rPr>
              <a:t>Transformative Impact</a:t>
            </a:r>
            <a:endParaRPr lang="en-US" sz="1100" dirty="0"/>
          </a:p>
        </p:txBody>
      </p:sp>
      <p:sp>
        <p:nvSpPr>
          <p:cNvPr id="15" name="Text 10"/>
          <p:cNvSpPr/>
          <p:nvPr/>
        </p:nvSpPr>
        <p:spPr>
          <a:xfrm>
            <a:off x="7487364" y="2021443"/>
            <a:ext cx="3862626" cy="734378"/>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Addresses inefficiencies across the entire loan lifecycle. Reduces operational costs by 60% while improving risk management. Enables new market participants through standardization. Supports industry transition to sustainable lending practices.</a:t>
            </a:r>
            <a:endParaRPr lang="en-US" sz="900" dirty="0"/>
          </a:p>
        </p:txBody>
      </p:sp>
      <p:sp>
        <p:nvSpPr>
          <p:cNvPr id="16" name="Shape 11"/>
          <p:cNvSpPr/>
          <p:nvPr/>
        </p:nvSpPr>
        <p:spPr>
          <a:xfrm>
            <a:off x="3165634" y="2985373"/>
            <a:ext cx="4092178" cy="1671161"/>
          </a:xfrm>
          <a:prstGeom prst="roundRect">
            <a:avLst>
              <a:gd name="adj" fmla="val 1031"/>
            </a:avLst>
          </a:prstGeom>
          <a:solidFill>
            <a:srgbClr val="4C5052"/>
          </a:solidFill>
          <a:ln/>
        </p:spPr>
      </p:sp>
      <p:sp>
        <p:nvSpPr>
          <p:cNvPr id="17" name="Shape 12"/>
          <p:cNvSpPr/>
          <p:nvPr/>
        </p:nvSpPr>
        <p:spPr>
          <a:xfrm>
            <a:off x="3280410" y="3100149"/>
            <a:ext cx="344329" cy="344329"/>
          </a:xfrm>
          <a:prstGeom prst="roundRect">
            <a:avLst>
              <a:gd name="adj" fmla="val 26553342"/>
            </a:avLst>
          </a:prstGeom>
          <a:solidFill>
            <a:srgbClr val="AC9EF5"/>
          </a:solidFill>
          <a:ln/>
        </p:spPr>
      </p:sp>
      <p:pic>
        <p:nvPicPr>
          <p:cNvPr id="1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75065" y="3194804"/>
            <a:ext cx="154900" cy="154900"/>
          </a:xfrm>
          <a:prstGeom prst="rect">
            <a:avLst/>
          </a:prstGeom>
        </p:spPr>
      </p:pic>
      <p:sp>
        <p:nvSpPr>
          <p:cNvPr id="19" name="Text 13"/>
          <p:cNvSpPr/>
          <p:nvPr/>
        </p:nvSpPr>
        <p:spPr>
          <a:xfrm>
            <a:off x="3280410" y="3559254"/>
            <a:ext cx="1435060" cy="179308"/>
          </a:xfrm>
          <a:prstGeom prst="rect">
            <a:avLst/>
          </a:prstGeom>
          <a:noFill/>
          <a:ln/>
        </p:spPr>
        <p:txBody>
          <a:bodyPr wrap="none" lIns="0" tIns="0" rIns="0" bIns="0" rtlCol="0" anchor="t"/>
          <a:lstStyle/>
          <a:p>
            <a:pPr marL="0" indent="0" algn="l">
              <a:lnSpc>
                <a:spcPts val="1400"/>
              </a:lnSpc>
              <a:buNone/>
            </a:pPr>
            <a:r>
              <a:rPr lang="en-US" sz="1100" dirty="0">
                <a:solidFill>
                  <a:srgbClr val="D6D9D7"/>
                </a:solidFill>
                <a:latin typeface="DM Sans Medium" pitchFamily="34" charset="0"/>
                <a:ea typeface="DM Sans Medium" pitchFamily="34" charset="-122"/>
                <a:cs typeface="DM Sans Medium" pitchFamily="34" charset="-120"/>
              </a:rPr>
              <a:t>Innovation Quality</a:t>
            </a:r>
            <a:endParaRPr lang="en-US" sz="1100" dirty="0"/>
          </a:p>
        </p:txBody>
      </p:sp>
      <p:sp>
        <p:nvSpPr>
          <p:cNvPr id="20" name="Text 14"/>
          <p:cNvSpPr/>
          <p:nvPr/>
        </p:nvSpPr>
        <p:spPr>
          <a:xfrm>
            <a:off x="3280410" y="3807381"/>
            <a:ext cx="3862626" cy="734378"/>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Novel integration of AI, compliance, and trading in one unified platform. Significantly improves upon existing point solutions. Addresses real pain points validated by industry experts. Commercially viable from day one with clear ROI.</a:t>
            </a:r>
            <a:endParaRPr lang="en-US" sz="900" dirty="0"/>
          </a:p>
        </p:txBody>
      </p:sp>
      <p:sp>
        <p:nvSpPr>
          <p:cNvPr id="21" name="Shape 15"/>
          <p:cNvSpPr/>
          <p:nvPr/>
        </p:nvSpPr>
        <p:spPr>
          <a:xfrm>
            <a:off x="7372588" y="2985373"/>
            <a:ext cx="4092178" cy="1671161"/>
          </a:xfrm>
          <a:prstGeom prst="roundRect">
            <a:avLst>
              <a:gd name="adj" fmla="val 1031"/>
            </a:avLst>
          </a:prstGeom>
          <a:solidFill>
            <a:srgbClr val="4C5052"/>
          </a:solidFill>
          <a:ln/>
        </p:spPr>
      </p:sp>
      <p:sp>
        <p:nvSpPr>
          <p:cNvPr id="22" name="Shape 16"/>
          <p:cNvSpPr/>
          <p:nvPr/>
        </p:nvSpPr>
        <p:spPr>
          <a:xfrm>
            <a:off x="7487364" y="3100149"/>
            <a:ext cx="344329" cy="344329"/>
          </a:xfrm>
          <a:prstGeom prst="roundRect">
            <a:avLst>
              <a:gd name="adj" fmla="val 26553342"/>
            </a:avLst>
          </a:prstGeom>
          <a:solidFill>
            <a:srgbClr val="AC9EF5"/>
          </a:solidFill>
          <a:ln/>
        </p:spPr>
      </p:sp>
      <p:pic>
        <p:nvPicPr>
          <p:cNvPr id="23"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82019" y="3194804"/>
            <a:ext cx="154900" cy="154900"/>
          </a:xfrm>
          <a:prstGeom prst="rect">
            <a:avLst/>
          </a:prstGeom>
        </p:spPr>
      </p:pic>
      <p:sp>
        <p:nvSpPr>
          <p:cNvPr id="24" name="Text 17"/>
          <p:cNvSpPr/>
          <p:nvPr/>
        </p:nvSpPr>
        <p:spPr>
          <a:xfrm>
            <a:off x="7487364" y="3559254"/>
            <a:ext cx="1435060" cy="179308"/>
          </a:xfrm>
          <a:prstGeom prst="rect">
            <a:avLst/>
          </a:prstGeom>
          <a:noFill/>
          <a:ln/>
        </p:spPr>
        <p:txBody>
          <a:bodyPr wrap="none" lIns="0" tIns="0" rIns="0" bIns="0" rtlCol="0" anchor="t"/>
          <a:lstStyle/>
          <a:p>
            <a:pPr marL="0" indent="0" algn="l">
              <a:lnSpc>
                <a:spcPts val="1400"/>
              </a:lnSpc>
              <a:buNone/>
            </a:pPr>
            <a:r>
              <a:rPr lang="en-US" sz="1100" dirty="0">
                <a:solidFill>
                  <a:srgbClr val="D6D9D7"/>
                </a:solidFill>
                <a:latin typeface="DM Sans Medium" pitchFamily="34" charset="0"/>
                <a:ea typeface="DM Sans Medium" pitchFamily="34" charset="-122"/>
                <a:cs typeface="DM Sans Medium" pitchFamily="34" charset="-120"/>
              </a:rPr>
              <a:t>Market Opportunity</a:t>
            </a:r>
            <a:endParaRPr lang="en-US" sz="1100" dirty="0"/>
          </a:p>
        </p:txBody>
      </p:sp>
      <p:sp>
        <p:nvSpPr>
          <p:cNvPr id="25" name="Text 18"/>
          <p:cNvSpPr/>
          <p:nvPr/>
        </p:nvSpPr>
        <p:spPr>
          <a:xfrm>
            <a:off x="7487364" y="3807381"/>
            <a:ext cx="3862626" cy="734378"/>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Defined value proposition for each stakeholder group. Addressable market of $10B+ in loan management software. Multiple revenue streams through SaaS subscriptions and transaction fees. Strong business case with 5-7x first-year ROI.</a:t>
            </a:r>
            <a:endParaRPr lang="en-US" sz="900" dirty="0"/>
          </a:p>
        </p:txBody>
      </p:sp>
      <p:sp>
        <p:nvSpPr>
          <p:cNvPr id="26" name="Shape 19"/>
          <p:cNvSpPr/>
          <p:nvPr/>
        </p:nvSpPr>
        <p:spPr>
          <a:xfrm>
            <a:off x="3165634" y="4842995"/>
            <a:ext cx="8299133" cy="21908"/>
          </a:xfrm>
          <a:prstGeom prst="rect">
            <a:avLst/>
          </a:prstGeom>
          <a:solidFill>
            <a:srgbClr val="D6D9D7">
              <a:alpha val="50000"/>
            </a:srgbClr>
          </a:solidFill>
          <a:ln/>
        </p:spPr>
      </p:sp>
      <p:sp>
        <p:nvSpPr>
          <p:cNvPr id="27" name="Text 20"/>
          <p:cNvSpPr/>
          <p:nvPr/>
        </p:nvSpPr>
        <p:spPr>
          <a:xfrm>
            <a:off x="3165634" y="5108734"/>
            <a:ext cx="1984415" cy="215146"/>
          </a:xfrm>
          <a:prstGeom prst="rect">
            <a:avLst/>
          </a:prstGeom>
          <a:noFill/>
          <a:ln/>
        </p:spPr>
        <p:txBody>
          <a:bodyPr wrap="none" lIns="0" tIns="0" rIns="0" bIns="0" rtlCol="0" anchor="t"/>
          <a:lstStyle/>
          <a:p>
            <a:pPr marL="0" indent="0" algn="l">
              <a:lnSpc>
                <a:spcPts val="1650"/>
              </a:lnSpc>
              <a:buNone/>
            </a:pPr>
            <a:r>
              <a:rPr lang="en-US" sz="1350" dirty="0">
                <a:solidFill>
                  <a:srgbClr val="F7F7F8"/>
                </a:solidFill>
                <a:latin typeface="DM Sans Medium" pitchFamily="34" charset="0"/>
                <a:ea typeface="DM Sans Medium" pitchFamily="34" charset="-122"/>
                <a:cs typeface="DM Sans Medium" pitchFamily="34" charset="-120"/>
              </a:rPr>
              <a:t>Comprehensive Solution</a:t>
            </a:r>
            <a:endParaRPr lang="en-US" sz="1350" dirty="0"/>
          </a:p>
        </p:txBody>
      </p:sp>
      <p:sp>
        <p:nvSpPr>
          <p:cNvPr id="28" name="Text 21"/>
          <p:cNvSpPr/>
          <p:nvPr/>
        </p:nvSpPr>
        <p:spPr>
          <a:xfrm>
            <a:off x="3165634" y="5438656"/>
            <a:ext cx="4009549" cy="917972"/>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LoanFlow AI uniquely addresses all five hackathon categories in one integrated platform, demonstrating unprecedented scope and technical execution. While competitors focus on single problem domains, our solution tackles the entire loan lifecycle from origination through secondary trading.</a:t>
            </a:r>
            <a:endParaRPr lang="en-US" sz="900" dirty="0"/>
          </a:p>
        </p:txBody>
      </p:sp>
      <p:sp>
        <p:nvSpPr>
          <p:cNvPr id="29" name="Text 22"/>
          <p:cNvSpPr/>
          <p:nvPr/>
        </p:nvSpPr>
        <p:spPr>
          <a:xfrm>
            <a:off x="3165634" y="6471404"/>
            <a:ext cx="1722120" cy="215146"/>
          </a:xfrm>
          <a:prstGeom prst="rect">
            <a:avLst/>
          </a:prstGeom>
          <a:noFill/>
          <a:ln/>
        </p:spPr>
        <p:txBody>
          <a:bodyPr wrap="none" lIns="0" tIns="0" rIns="0" bIns="0" rtlCol="0" anchor="t"/>
          <a:lstStyle/>
          <a:p>
            <a:pPr marL="0" indent="0" algn="l">
              <a:lnSpc>
                <a:spcPts val="1650"/>
              </a:lnSpc>
              <a:buNone/>
            </a:pPr>
            <a:r>
              <a:rPr lang="en-US" sz="1350" dirty="0">
                <a:solidFill>
                  <a:srgbClr val="F7F7F8"/>
                </a:solidFill>
                <a:latin typeface="DM Sans Medium" pitchFamily="34" charset="0"/>
                <a:ea typeface="DM Sans Medium" pitchFamily="34" charset="-122"/>
                <a:cs typeface="DM Sans Medium" pitchFamily="34" charset="-120"/>
              </a:rPr>
              <a:t>Real AI Integration</a:t>
            </a:r>
            <a:endParaRPr lang="en-US" sz="1350" dirty="0"/>
          </a:p>
        </p:txBody>
      </p:sp>
      <p:sp>
        <p:nvSpPr>
          <p:cNvPr id="30" name="Text 23"/>
          <p:cNvSpPr/>
          <p:nvPr/>
        </p:nvSpPr>
        <p:spPr>
          <a:xfrm>
            <a:off x="3165634" y="6801326"/>
            <a:ext cx="4009549" cy="917972"/>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Unlike simulated demonstrations, LoanFlow AI features actual GPT-4 API integration with sophisticated prompt engineering. This provides genuine natural language understanding, contextual insights, and adaptive learning that improves with usage—capabilities that cannot be replicated with mock data.</a:t>
            </a:r>
            <a:endParaRPr lang="en-US" sz="900" dirty="0"/>
          </a:p>
        </p:txBody>
      </p:sp>
      <p:sp>
        <p:nvSpPr>
          <p:cNvPr id="31" name="Text 24"/>
          <p:cNvSpPr/>
          <p:nvPr/>
        </p:nvSpPr>
        <p:spPr>
          <a:xfrm>
            <a:off x="7462838" y="5108734"/>
            <a:ext cx="1722120" cy="215146"/>
          </a:xfrm>
          <a:prstGeom prst="rect">
            <a:avLst/>
          </a:prstGeom>
          <a:noFill/>
          <a:ln/>
        </p:spPr>
        <p:txBody>
          <a:bodyPr wrap="none" lIns="0" tIns="0" rIns="0" bIns="0" rtlCol="0" anchor="t"/>
          <a:lstStyle/>
          <a:p>
            <a:pPr marL="0" indent="0" algn="l">
              <a:lnSpc>
                <a:spcPts val="1650"/>
              </a:lnSpc>
              <a:buNone/>
            </a:pPr>
            <a:r>
              <a:rPr lang="en-US" sz="1350" dirty="0">
                <a:solidFill>
                  <a:srgbClr val="F7F7F8"/>
                </a:solidFill>
                <a:latin typeface="DM Sans Medium" pitchFamily="34" charset="0"/>
                <a:ea typeface="DM Sans Medium" pitchFamily="34" charset="-122"/>
                <a:cs typeface="DM Sans Medium" pitchFamily="34" charset="-120"/>
              </a:rPr>
              <a:t>Commercial Viability</a:t>
            </a:r>
            <a:endParaRPr lang="en-US" sz="1350" dirty="0"/>
          </a:p>
        </p:txBody>
      </p:sp>
      <p:sp>
        <p:nvSpPr>
          <p:cNvPr id="32" name="Text 25"/>
          <p:cNvSpPr/>
          <p:nvPr/>
        </p:nvSpPr>
        <p:spPr>
          <a:xfrm>
            <a:off x="7462838" y="5438656"/>
            <a:ext cx="4009549" cy="734378"/>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Built for real-world banking operations with enterprise-grade security, scalability, and integration capabilities. The platform addresses actual pain points validated through industry research and expert interviews. Clear pricing model and go-to-market strategy ensure rapid adoption.</a:t>
            </a:r>
            <a:endParaRPr lang="en-US" sz="900" dirty="0"/>
          </a:p>
        </p:txBody>
      </p:sp>
      <p:sp>
        <p:nvSpPr>
          <p:cNvPr id="33" name="Text 26"/>
          <p:cNvSpPr/>
          <p:nvPr/>
        </p:nvSpPr>
        <p:spPr>
          <a:xfrm>
            <a:off x="7462838" y="6287810"/>
            <a:ext cx="1722120" cy="215146"/>
          </a:xfrm>
          <a:prstGeom prst="rect">
            <a:avLst/>
          </a:prstGeom>
          <a:noFill/>
          <a:ln/>
        </p:spPr>
        <p:txBody>
          <a:bodyPr wrap="none" lIns="0" tIns="0" rIns="0" bIns="0" rtlCol="0" anchor="t"/>
          <a:lstStyle/>
          <a:p>
            <a:pPr marL="0" indent="0" algn="l">
              <a:lnSpc>
                <a:spcPts val="1650"/>
              </a:lnSpc>
              <a:buNone/>
            </a:pPr>
            <a:r>
              <a:rPr lang="en-US" sz="1350" dirty="0">
                <a:solidFill>
                  <a:srgbClr val="F7F7F8"/>
                </a:solidFill>
                <a:latin typeface="DM Sans Medium" pitchFamily="34" charset="0"/>
                <a:ea typeface="DM Sans Medium" pitchFamily="34" charset="-122"/>
                <a:cs typeface="DM Sans Medium" pitchFamily="34" charset="-120"/>
              </a:rPr>
              <a:t>Industry Alignment</a:t>
            </a:r>
            <a:endParaRPr lang="en-US" sz="1350" dirty="0"/>
          </a:p>
        </p:txBody>
      </p:sp>
      <p:sp>
        <p:nvSpPr>
          <p:cNvPr id="34" name="Text 27"/>
          <p:cNvSpPr/>
          <p:nvPr/>
        </p:nvSpPr>
        <p:spPr>
          <a:xfrm>
            <a:off x="7462838" y="6617732"/>
            <a:ext cx="4009549" cy="917972"/>
          </a:xfrm>
          <a:prstGeom prst="rect">
            <a:avLst/>
          </a:prstGeom>
          <a:noFill/>
          <a:ln/>
        </p:spPr>
        <p:txBody>
          <a:bodyPr wrap="square" lIns="0" tIns="0" rIns="0" bIns="0" rtlCol="0" anchor="t"/>
          <a:lstStyle/>
          <a:p>
            <a:pPr marL="0" indent="0" algn="l">
              <a:lnSpc>
                <a:spcPts val="1400"/>
              </a:lnSpc>
              <a:buNone/>
            </a:pPr>
            <a:r>
              <a:rPr lang="en-US" sz="900" dirty="0">
                <a:solidFill>
                  <a:srgbClr val="D6D9D7"/>
                </a:solidFill>
                <a:latin typeface="Inter" pitchFamily="34" charset="0"/>
                <a:ea typeface="Inter" pitchFamily="34" charset="-122"/>
                <a:cs typeface="Inter" pitchFamily="34" charset="-120"/>
              </a:rPr>
              <a:t>Deep integration with LMA standards and frameworks ensures immediate applicability to existing market infrastructure. The platform doesn't require industry participants to change established practices—it enhances them through automation and intelligence while maintaining compatibility.</a:t>
            </a:r>
            <a:endParaRPr lang="en-US" sz="900" dirty="0"/>
          </a:p>
        </p:txBody>
      </p:sp>
      <p:sp>
        <p:nvSpPr>
          <p:cNvPr id="35" name="Rectangle: Rounded Corners 34">
            <a:extLst>
              <a:ext uri="{FF2B5EF4-FFF2-40B4-BE49-F238E27FC236}">
                <a16:creationId xmlns:a16="http://schemas.microsoft.com/office/drawing/2014/main" id="{04C581BE-6D34-6DED-FC77-80025F9C42CF}"/>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728442" y="272891"/>
            <a:ext cx="3900726" cy="310158"/>
          </a:xfrm>
          <a:prstGeom prst="rect">
            <a:avLst/>
          </a:prstGeom>
          <a:noFill/>
          <a:ln/>
        </p:spPr>
        <p:txBody>
          <a:bodyPr wrap="none" lIns="0" tIns="0" rIns="0" bIns="0" rtlCol="0" anchor="t"/>
          <a:lstStyle/>
          <a:p>
            <a:pPr marL="0" indent="0" algn="l">
              <a:lnSpc>
                <a:spcPts val="2400"/>
              </a:lnSpc>
              <a:buNone/>
            </a:pPr>
            <a:r>
              <a:rPr lang="en-US" sz="1950" dirty="0">
                <a:solidFill>
                  <a:srgbClr val="F7F7F8"/>
                </a:solidFill>
                <a:latin typeface="DM Sans Medium" pitchFamily="34" charset="0"/>
                <a:ea typeface="DM Sans Medium" pitchFamily="34" charset="-122"/>
                <a:cs typeface="DM Sans Medium" pitchFamily="34" charset="-120"/>
              </a:rPr>
              <a:t>Ready to Transform Loan Markets</a:t>
            </a:r>
            <a:endParaRPr lang="en-US" sz="1950" dirty="0"/>
          </a:p>
        </p:txBody>
      </p:sp>
      <p:sp>
        <p:nvSpPr>
          <p:cNvPr id="3" name="Text 1"/>
          <p:cNvSpPr/>
          <p:nvPr/>
        </p:nvSpPr>
        <p:spPr>
          <a:xfrm>
            <a:off x="3728442" y="821174"/>
            <a:ext cx="3836432" cy="792956"/>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LoanFlow AI represents more than a hackathon submission—it's a commercially ready platform poised to transform the multi-trillion dollar loan market. With real AI integration, comprehensive feature coverage across five challenge categories, and measurable ROI demonstrated through rigorous analysis, this solution stands ready for immediate pilot deployment.</a:t>
            </a:r>
            <a:endParaRPr lang="en-US" sz="750" dirty="0"/>
          </a:p>
        </p:txBody>
      </p:sp>
      <p:sp>
        <p:nvSpPr>
          <p:cNvPr id="4" name="Text 2"/>
          <p:cNvSpPr/>
          <p:nvPr/>
        </p:nvSpPr>
        <p:spPr>
          <a:xfrm>
            <a:off x="3728442" y="1703427"/>
            <a:ext cx="3836432" cy="951548"/>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The platform addresses critical industry needs identified by the Loan Market Association: operational inefficiency, regulatory complexity, market opacity, and sustainability imperatives. By combining cutting-edge technology with deep domain expertise, LoanFlow AI delivers a solution that serves banks, investors, regulators, and ultimately, the broader economy through more efficient capital allocation.</a:t>
            </a:r>
            <a:endParaRPr lang="en-US" sz="750" dirty="0"/>
          </a:p>
        </p:txBody>
      </p:sp>
      <p:sp>
        <p:nvSpPr>
          <p:cNvPr id="5" name="Text 3"/>
          <p:cNvSpPr/>
          <p:nvPr/>
        </p:nvSpPr>
        <p:spPr>
          <a:xfrm>
            <a:off x="3728442" y="2754154"/>
            <a:ext cx="1488519" cy="185976"/>
          </a:xfrm>
          <a:prstGeom prst="rect">
            <a:avLst/>
          </a:prstGeom>
          <a:noFill/>
          <a:ln/>
        </p:spPr>
        <p:txBody>
          <a:bodyPr wrap="none" lIns="0" tIns="0" rIns="0" bIns="0" rtlCol="0" anchor="t"/>
          <a:lstStyle/>
          <a:p>
            <a:pPr marL="0" indent="0" algn="l">
              <a:lnSpc>
                <a:spcPts val="1450"/>
              </a:lnSpc>
              <a:buNone/>
            </a:pPr>
            <a:r>
              <a:rPr lang="en-US" sz="1150" dirty="0">
                <a:solidFill>
                  <a:srgbClr val="F7F7F8"/>
                </a:solidFill>
                <a:latin typeface="DM Sans Medium" pitchFamily="34" charset="0"/>
                <a:ea typeface="DM Sans Medium" pitchFamily="34" charset="-122"/>
                <a:cs typeface="DM Sans Medium" pitchFamily="34" charset="-120"/>
              </a:rPr>
              <a:t>Next Steps</a:t>
            </a:r>
            <a:endParaRPr lang="en-US" sz="1150" dirty="0"/>
          </a:p>
        </p:txBody>
      </p:sp>
      <p:sp>
        <p:nvSpPr>
          <p:cNvPr id="6" name="Text 4"/>
          <p:cNvSpPr/>
          <p:nvPr/>
        </p:nvSpPr>
        <p:spPr>
          <a:xfrm>
            <a:off x="3728442" y="3051691"/>
            <a:ext cx="99179" cy="123944"/>
          </a:xfrm>
          <a:prstGeom prst="rect">
            <a:avLst/>
          </a:prstGeom>
          <a:noFill/>
          <a:ln/>
        </p:spPr>
        <p:txBody>
          <a:bodyPr wrap="none" lIns="0" tIns="0" rIns="0" bIns="0" rtlCol="0" anchor="t"/>
          <a:lstStyle/>
          <a:p>
            <a:pPr marL="0" indent="0" algn="l">
              <a:lnSpc>
                <a:spcPts val="1250"/>
              </a:lnSpc>
              <a:buNone/>
            </a:pPr>
            <a:r>
              <a:rPr lang="en-US" sz="750" dirty="0">
                <a:solidFill>
                  <a:srgbClr val="D6D9D7"/>
                </a:solidFill>
                <a:latin typeface="DM Sans Light" pitchFamily="34" charset="0"/>
                <a:ea typeface="DM Sans Light" pitchFamily="34" charset="-122"/>
                <a:cs typeface="DM Sans Light" pitchFamily="34" charset="-120"/>
              </a:rPr>
              <a:t>01</a:t>
            </a:r>
            <a:endParaRPr lang="en-US" sz="750" dirty="0"/>
          </a:p>
        </p:txBody>
      </p:sp>
      <p:sp>
        <p:nvSpPr>
          <p:cNvPr id="7" name="Shape 5"/>
          <p:cNvSpPr/>
          <p:nvPr/>
        </p:nvSpPr>
        <p:spPr>
          <a:xfrm>
            <a:off x="3728442" y="3204924"/>
            <a:ext cx="3836432" cy="15240"/>
          </a:xfrm>
          <a:prstGeom prst="rect">
            <a:avLst/>
          </a:prstGeom>
          <a:solidFill>
            <a:srgbClr val="AC9EF5"/>
          </a:solidFill>
          <a:ln/>
        </p:spPr>
      </p:sp>
      <p:sp>
        <p:nvSpPr>
          <p:cNvPr id="8" name="Text 6"/>
          <p:cNvSpPr/>
          <p:nvPr/>
        </p:nvSpPr>
        <p:spPr>
          <a:xfrm>
            <a:off x="3728442" y="3284934"/>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Pilot Program</a:t>
            </a:r>
            <a:endParaRPr lang="en-US" sz="950" dirty="0"/>
          </a:p>
        </p:txBody>
      </p:sp>
      <p:sp>
        <p:nvSpPr>
          <p:cNvPr id="9" name="Text 7"/>
          <p:cNvSpPr/>
          <p:nvPr/>
        </p:nvSpPr>
        <p:spPr>
          <a:xfrm>
            <a:off x="3728442" y="3539133"/>
            <a:ext cx="3836432" cy="317183"/>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Launch with 3-5 commercial banks in Q2 2025 to validate performance metrics and refine features based on real-world usage</a:t>
            </a:r>
            <a:endParaRPr lang="en-US" sz="750" dirty="0"/>
          </a:p>
        </p:txBody>
      </p:sp>
      <p:sp>
        <p:nvSpPr>
          <p:cNvPr id="10" name="Text 8"/>
          <p:cNvSpPr/>
          <p:nvPr/>
        </p:nvSpPr>
        <p:spPr>
          <a:xfrm>
            <a:off x="3728442" y="4029908"/>
            <a:ext cx="99179" cy="123944"/>
          </a:xfrm>
          <a:prstGeom prst="rect">
            <a:avLst/>
          </a:prstGeom>
          <a:noFill/>
          <a:ln/>
        </p:spPr>
        <p:txBody>
          <a:bodyPr wrap="none" lIns="0" tIns="0" rIns="0" bIns="0" rtlCol="0" anchor="t"/>
          <a:lstStyle/>
          <a:p>
            <a:pPr marL="0" indent="0" algn="l">
              <a:lnSpc>
                <a:spcPts val="1250"/>
              </a:lnSpc>
              <a:buNone/>
            </a:pPr>
            <a:r>
              <a:rPr lang="en-US" sz="750" dirty="0">
                <a:solidFill>
                  <a:srgbClr val="D6D9D7"/>
                </a:solidFill>
                <a:latin typeface="DM Sans Light" pitchFamily="34" charset="0"/>
                <a:ea typeface="DM Sans Light" pitchFamily="34" charset="-122"/>
                <a:cs typeface="DM Sans Light" pitchFamily="34" charset="-120"/>
              </a:rPr>
              <a:t>02</a:t>
            </a:r>
            <a:endParaRPr lang="en-US" sz="750" dirty="0"/>
          </a:p>
        </p:txBody>
      </p:sp>
      <p:sp>
        <p:nvSpPr>
          <p:cNvPr id="11" name="Shape 9"/>
          <p:cNvSpPr/>
          <p:nvPr/>
        </p:nvSpPr>
        <p:spPr>
          <a:xfrm>
            <a:off x="3728442" y="4183142"/>
            <a:ext cx="3836432" cy="15240"/>
          </a:xfrm>
          <a:prstGeom prst="rect">
            <a:avLst/>
          </a:prstGeom>
          <a:solidFill>
            <a:srgbClr val="AC9EF5"/>
          </a:solidFill>
          <a:ln/>
        </p:spPr>
      </p:sp>
      <p:sp>
        <p:nvSpPr>
          <p:cNvPr id="12" name="Text 10"/>
          <p:cNvSpPr/>
          <p:nvPr/>
        </p:nvSpPr>
        <p:spPr>
          <a:xfrm>
            <a:off x="3728442" y="4263152"/>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Market Expansion</a:t>
            </a:r>
            <a:endParaRPr lang="en-US" sz="950" dirty="0"/>
          </a:p>
        </p:txBody>
      </p:sp>
      <p:sp>
        <p:nvSpPr>
          <p:cNvPr id="13" name="Text 11"/>
          <p:cNvSpPr/>
          <p:nvPr/>
        </p:nvSpPr>
        <p:spPr>
          <a:xfrm>
            <a:off x="3728442" y="4517350"/>
            <a:ext cx="3836432" cy="317183"/>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Scale to 25+ institutions by end of 2025, establishing LoanFlow AI as the industry standard for intelligent loan management</a:t>
            </a:r>
            <a:endParaRPr lang="en-US" sz="750" dirty="0"/>
          </a:p>
        </p:txBody>
      </p:sp>
      <p:sp>
        <p:nvSpPr>
          <p:cNvPr id="14" name="Text 12"/>
          <p:cNvSpPr/>
          <p:nvPr/>
        </p:nvSpPr>
        <p:spPr>
          <a:xfrm>
            <a:off x="3728442" y="5008126"/>
            <a:ext cx="99179" cy="123944"/>
          </a:xfrm>
          <a:prstGeom prst="rect">
            <a:avLst/>
          </a:prstGeom>
          <a:noFill/>
          <a:ln/>
        </p:spPr>
        <p:txBody>
          <a:bodyPr wrap="none" lIns="0" tIns="0" rIns="0" bIns="0" rtlCol="0" anchor="t"/>
          <a:lstStyle/>
          <a:p>
            <a:pPr marL="0" indent="0" algn="l">
              <a:lnSpc>
                <a:spcPts val="1250"/>
              </a:lnSpc>
              <a:buNone/>
            </a:pPr>
            <a:r>
              <a:rPr lang="en-US" sz="750" dirty="0">
                <a:solidFill>
                  <a:srgbClr val="D6D9D7"/>
                </a:solidFill>
                <a:latin typeface="DM Sans Light" pitchFamily="34" charset="0"/>
                <a:ea typeface="DM Sans Light" pitchFamily="34" charset="-122"/>
                <a:cs typeface="DM Sans Light" pitchFamily="34" charset="-120"/>
              </a:rPr>
              <a:t>03</a:t>
            </a:r>
            <a:endParaRPr lang="en-US" sz="750" dirty="0"/>
          </a:p>
        </p:txBody>
      </p:sp>
      <p:sp>
        <p:nvSpPr>
          <p:cNvPr id="15" name="Shape 13"/>
          <p:cNvSpPr/>
          <p:nvPr/>
        </p:nvSpPr>
        <p:spPr>
          <a:xfrm>
            <a:off x="3728442" y="5161359"/>
            <a:ext cx="3836432" cy="15240"/>
          </a:xfrm>
          <a:prstGeom prst="rect">
            <a:avLst/>
          </a:prstGeom>
          <a:solidFill>
            <a:srgbClr val="AC9EF5"/>
          </a:solidFill>
          <a:ln/>
        </p:spPr>
      </p:sp>
      <p:sp>
        <p:nvSpPr>
          <p:cNvPr id="16" name="Text 14"/>
          <p:cNvSpPr/>
          <p:nvPr/>
        </p:nvSpPr>
        <p:spPr>
          <a:xfrm>
            <a:off x="3728442" y="5241369"/>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D9D7"/>
                </a:solidFill>
                <a:latin typeface="DM Sans Medium" pitchFamily="34" charset="0"/>
                <a:ea typeface="DM Sans Medium" pitchFamily="34" charset="-122"/>
                <a:cs typeface="DM Sans Medium" pitchFamily="34" charset="-120"/>
              </a:rPr>
              <a:t>Ecosystem Building</a:t>
            </a:r>
            <a:endParaRPr lang="en-US" sz="950" dirty="0"/>
          </a:p>
        </p:txBody>
      </p:sp>
      <p:sp>
        <p:nvSpPr>
          <p:cNvPr id="17" name="Text 15"/>
          <p:cNvSpPr/>
          <p:nvPr/>
        </p:nvSpPr>
        <p:spPr>
          <a:xfrm>
            <a:off x="3728442" y="5495568"/>
            <a:ext cx="3836432" cy="317183"/>
          </a:xfrm>
          <a:prstGeom prst="rect">
            <a:avLst/>
          </a:prstGeom>
          <a:noFill/>
          <a:ln/>
        </p:spPr>
        <p:txBody>
          <a:bodyPr wrap="square" lIns="0" tIns="0" rIns="0" bIns="0" rtlCol="0" anchor="t"/>
          <a:lstStyle/>
          <a:p>
            <a:pPr marL="0" indent="0" algn="l">
              <a:lnSpc>
                <a:spcPts val="1250"/>
              </a:lnSpc>
              <a:buNone/>
            </a:pPr>
            <a:r>
              <a:rPr lang="en-US" sz="750" dirty="0">
                <a:solidFill>
                  <a:srgbClr val="D6D9D7"/>
                </a:solidFill>
                <a:latin typeface="Inter" pitchFamily="34" charset="0"/>
                <a:ea typeface="Inter" pitchFamily="34" charset="-122"/>
                <a:cs typeface="Inter" pitchFamily="34" charset="-120"/>
              </a:rPr>
              <a:t>Develop open API platform enabling third-party integrations, creating a comprehensive loan market infrastructure by 2026</a:t>
            </a:r>
            <a:endParaRPr lang="en-US" sz="750" dirty="0"/>
          </a:p>
        </p:txBody>
      </p:sp>
      <p:sp>
        <p:nvSpPr>
          <p:cNvPr id="18" name="Shape 16"/>
          <p:cNvSpPr/>
          <p:nvPr/>
        </p:nvSpPr>
        <p:spPr>
          <a:xfrm>
            <a:off x="7814429" y="843439"/>
            <a:ext cx="3094911" cy="2738914"/>
          </a:xfrm>
          <a:prstGeom prst="roundRect">
            <a:avLst>
              <a:gd name="adj" fmla="val 543"/>
            </a:avLst>
          </a:prstGeom>
          <a:solidFill>
            <a:srgbClr val="110745"/>
          </a:solidFill>
          <a:ln/>
        </p:spPr>
      </p:sp>
      <p:pic>
        <p:nvPicPr>
          <p:cNvPr id="19" name="Image 0" descr="preencoded.png"/>
          <p:cNvPicPr>
            <a:picLocks noChangeAspect="1"/>
          </p:cNvPicPr>
          <p:nvPr/>
        </p:nvPicPr>
        <p:blipFill>
          <a:blip r:embed="rId3"/>
          <a:stretch>
            <a:fillRect/>
          </a:stretch>
        </p:blipFill>
        <p:spPr>
          <a:xfrm>
            <a:off x="7913608" y="974288"/>
            <a:ext cx="185976" cy="148828"/>
          </a:xfrm>
          <a:prstGeom prst="rect">
            <a:avLst/>
          </a:prstGeom>
        </p:spPr>
      </p:pic>
      <p:sp>
        <p:nvSpPr>
          <p:cNvPr id="20" name="Text 17"/>
          <p:cNvSpPr/>
          <p:nvPr/>
        </p:nvSpPr>
        <p:spPr>
          <a:xfrm>
            <a:off x="8198763" y="967383"/>
            <a:ext cx="1488519" cy="185976"/>
          </a:xfrm>
          <a:prstGeom prst="rect">
            <a:avLst/>
          </a:prstGeom>
          <a:noFill/>
          <a:ln/>
        </p:spPr>
        <p:txBody>
          <a:bodyPr wrap="none" lIns="0" tIns="0" rIns="0" bIns="0" rtlCol="0" anchor="t"/>
          <a:lstStyle/>
          <a:p>
            <a:pPr marL="0" indent="0" algn="l">
              <a:lnSpc>
                <a:spcPts val="1450"/>
              </a:lnSpc>
              <a:buNone/>
            </a:pPr>
            <a:r>
              <a:rPr lang="en-US" sz="1150" dirty="0">
                <a:solidFill>
                  <a:srgbClr val="FFFFFF"/>
                </a:solidFill>
                <a:latin typeface="DM Sans Medium" pitchFamily="34" charset="0"/>
                <a:ea typeface="DM Sans Medium" pitchFamily="34" charset="-122"/>
                <a:cs typeface="DM Sans Medium" pitchFamily="34" charset="-120"/>
              </a:rPr>
              <a:t>Get Started Today</a:t>
            </a:r>
            <a:endParaRPr lang="en-US" sz="1150" dirty="0"/>
          </a:p>
        </p:txBody>
      </p:sp>
      <p:sp>
        <p:nvSpPr>
          <p:cNvPr id="21" name="Text 18"/>
          <p:cNvSpPr/>
          <p:nvPr/>
        </p:nvSpPr>
        <p:spPr>
          <a:xfrm>
            <a:off x="8198763" y="1252538"/>
            <a:ext cx="2611398" cy="158591"/>
          </a:xfrm>
          <a:prstGeom prst="rect">
            <a:avLst/>
          </a:prstGeom>
          <a:noFill/>
          <a:ln/>
        </p:spPr>
        <p:txBody>
          <a:bodyPr wrap="none" lIns="0" tIns="0" rIns="0" bIns="0" rtlCol="0" anchor="t"/>
          <a:lstStyle/>
          <a:p>
            <a:pPr marL="0" indent="0" algn="l">
              <a:lnSpc>
                <a:spcPts val="1250"/>
              </a:lnSpc>
              <a:buNone/>
            </a:pPr>
            <a:r>
              <a:rPr lang="en-US" sz="750" b="1" dirty="0">
                <a:solidFill>
                  <a:srgbClr val="FFFFFF"/>
                </a:solidFill>
                <a:latin typeface="Inter" pitchFamily="34" charset="0"/>
                <a:ea typeface="Inter" pitchFamily="34" charset="-122"/>
                <a:cs typeface="Inter" pitchFamily="34" charset="-120"/>
              </a:rPr>
              <a:t>Live Demo Access</a:t>
            </a:r>
            <a:endParaRPr lang="en-US" sz="750" dirty="0"/>
          </a:p>
        </p:txBody>
      </p:sp>
      <p:sp>
        <p:nvSpPr>
          <p:cNvPr id="22" name="Text 19"/>
          <p:cNvSpPr/>
          <p:nvPr/>
        </p:nvSpPr>
        <p:spPr>
          <a:xfrm>
            <a:off x="8198763" y="1500426"/>
            <a:ext cx="2611398" cy="475774"/>
          </a:xfrm>
          <a:prstGeom prst="rect">
            <a:avLst/>
          </a:prstGeom>
          <a:noFill/>
          <a:ln/>
        </p:spPr>
        <p:txBody>
          <a:bodyPr wrap="square" lIns="0" tIns="0" rIns="0" bIns="0" rtlCol="0" anchor="t"/>
          <a:lstStyle/>
          <a:p>
            <a:pPr marL="0" indent="0" algn="l">
              <a:lnSpc>
                <a:spcPts val="1250"/>
              </a:lnSpc>
              <a:buNone/>
            </a:pPr>
            <a:r>
              <a:rPr lang="en-US" sz="750" dirty="0">
                <a:solidFill>
                  <a:srgbClr val="FFFFFF"/>
                </a:solidFill>
                <a:latin typeface="Inter" pitchFamily="34" charset="0"/>
                <a:ea typeface="Inter" pitchFamily="34" charset="-122"/>
                <a:cs typeface="Inter" pitchFamily="34" charset="-120"/>
              </a:rPr>
              <a:t>Experience the platform firsthand by uploading loan documents, exploring analytics, and executing trades in our interactive demo environment.</a:t>
            </a:r>
            <a:endParaRPr lang="en-US" sz="750" dirty="0"/>
          </a:p>
        </p:txBody>
      </p:sp>
      <p:sp>
        <p:nvSpPr>
          <p:cNvPr id="23" name="Text 20"/>
          <p:cNvSpPr/>
          <p:nvPr/>
        </p:nvSpPr>
        <p:spPr>
          <a:xfrm>
            <a:off x="8198763" y="2065496"/>
            <a:ext cx="2611398" cy="158591"/>
          </a:xfrm>
          <a:prstGeom prst="rect">
            <a:avLst/>
          </a:prstGeom>
          <a:noFill/>
          <a:ln/>
        </p:spPr>
        <p:txBody>
          <a:bodyPr wrap="none" lIns="0" tIns="0" rIns="0" bIns="0" rtlCol="0" anchor="t"/>
          <a:lstStyle/>
          <a:p>
            <a:pPr marL="0" indent="0" algn="l">
              <a:lnSpc>
                <a:spcPts val="1250"/>
              </a:lnSpc>
              <a:buNone/>
            </a:pPr>
            <a:r>
              <a:rPr lang="en-US" sz="750" b="1" dirty="0">
                <a:solidFill>
                  <a:srgbClr val="FFFFFF"/>
                </a:solidFill>
                <a:latin typeface="Inter" pitchFamily="34" charset="0"/>
                <a:ea typeface="Inter" pitchFamily="34" charset="-122"/>
                <a:cs typeface="Inter" pitchFamily="34" charset="-120"/>
              </a:rPr>
              <a:t>Pilot Program</a:t>
            </a:r>
            <a:endParaRPr lang="en-US" sz="750" dirty="0"/>
          </a:p>
        </p:txBody>
      </p:sp>
      <p:sp>
        <p:nvSpPr>
          <p:cNvPr id="24" name="Text 21"/>
          <p:cNvSpPr/>
          <p:nvPr/>
        </p:nvSpPr>
        <p:spPr>
          <a:xfrm>
            <a:off x="8198763" y="2313384"/>
            <a:ext cx="2611398" cy="317183"/>
          </a:xfrm>
          <a:prstGeom prst="rect">
            <a:avLst/>
          </a:prstGeom>
          <a:noFill/>
          <a:ln/>
        </p:spPr>
        <p:txBody>
          <a:bodyPr wrap="square" lIns="0" tIns="0" rIns="0" bIns="0" rtlCol="0" anchor="t"/>
          <a:lstStyle/>
          <a:p>
            <a:pPr marL="0" indent="0" algn="l">
              <a:lnSpc>
                <a:spcPts val="1250"/>
              </a:lnSpc>
              <a:buNone/>
            </a:pPr>
            <a:r>
              <a:rPr lang="en-US" sz="750" dirty="0">
                <a:solidFill>
                  <a:srgbClr val="FFFFFF"/>
                </a:solidFill>
                <a:latin typeface="Inter" pitchFamily="34" charset="0"/>
                <a:ea typeface="Inter" pitchFamily="34" charset="-122"/>
                <a:cs typeface="Inter" pitchFamily="34" charset="-120"/>
              </a:rPr>
              <a:t>Limited slots available for early adopter institutions. Contact us to discuss integration timelines and pricing.</a:t>
            </a:r>
            <a:endParaRPr lang="en-US" sz="750" dirty="0"/>
          </a:p>
        </p:txBody>
      </p:sp>
      <p:sp>
        <p:nvSpPr>
          <p:cNvPr id="25" name="Text 22"/>
          <p:cNvSpPr/>
          <p:nvPr/>
        </p:nvSpPr>
        <p:spPr>
          <a:xfrm>
            <a:off x="8198763" y="2719864"/>
            <a:ext cx="2611398" cy="158591"/>
          </a:xfrm>
          <a:prstGeom prst="rect">
            <a:avLst/>
          </a:prstGeom>
          <a:noFill/>
          <a:ln/>
        </p:spPr>
        <p:txBody>
          <a:bodyPr wrap="none" lIns="0" tIns="0" rIns="0" bIns="0" rtlCol="0" anchor="t"/>
          <a:lstStyle/>
          <a:p>
            <a:pPr marL="0" indent="0" algn="l">
              <a:lnSpc>
                <a:spcPts val="1250"/>
              </a:lnSpc>
              <a:buNone/>
            </a:pPr>
            <a:r>
              <a:rPr lang="en-US" sz="750" b="1" dirty="0">
                <a:solidFill>
                  <a:srgbClr val="FFFFFF"/>
                </a:solidFill>
                <a:latin typeface="Inter" pitchFamily="34" charset="0"/>
                <a:ea typeface="Inter" pitchFamily="34" charset="-122"/>
                <a:cs typeface="Inter" pitchFamily="34" charset="-120"/>
              </a:rPr>
              <a:t>API Documentation</a:t>
            </a:r>
            <a:endParaRPr lang="en-US" sz="750" dirty="0"/>
          </a:p>
        </p:txBody>
      </p:sp>
      <p:sp>
        <p:nvSpPr>
          <p:cNvPr id="26" name="Text 23"/>
          <p:cNvSpPr/>
          <p:nvPr/>
        </p:nvSpPr>
        <p:spPr>
          <a:xfrm>
            <a:off x="8198763" y="2967752"/>
            <a:ext cx="2611398" cy="475774"/>
          </a:xfrm>
          <a:prstGeom prst="rect">
            <a:avLst/>
          </a:prstGeom>
          <a:noFill/>
          <a:ln/>
        </p:spPr>
        <p:txBody>
          <a:bodyPr wrap="square" lIns="0" tIns="0" rIns="0" bIns="0" rtlCol="0" anchor="t"/>
          <a:lstStyle/>
          <a:p>
            <a:pPr marL="0" indent="0" algn="l">
              <a:lnSpc>
                <a:spcPts val="1250"/>
              </a:lnSpc>
              <a:buNone/>
            </a:pPr>
            <a:r>
              <a:rPr lang="en-US" sz="750" dirty="0">
                <a:solidFill>
                  <a:srgbClr val="FFFFFF"/>
                </a:solidFill>
                <a:latin typeface="Inter" pitchFamily="34" charset="0"/>
                <a:ea typeface="Inter" pitchFamily="34" charset="-122"/>
                <a:cs typeface="Inter" pitchFamily="34" charset="-120"/>
              </a:rPr>
              <a:t>Technical teams can review our comprehensive API documentation and integration guides to assess compatibility with existing systems.</a:t>
            </a:r>
            <a:endParaRPr lang="en-US" sz="750" dirty="0"/>
          </a:p>
        </p:txBody>
      </p:sp>
      <p:pic>
        <p:nvPicPr>
          <p:cNvPr id="27" name="Image 1" descr="preencoded.png"/>
          <p:cNvPicPr>
            <a:picLocks noChangeAspect="1"/>
          </p:cNvPicPr>
          <p:nvPr/>
        </p:nvPicPr>
        <p:blipFill>
          <a:blip r:embed="rId4"/>
          <a:stretch>
            <a:fillRect/>
          </a:stretch>
        </p:blipFill>
        <p:spPr>
          <a:xfrm>
            <a:off x="7814429" y="3693914"/>
            <a:ext cx="3094911" cy="3094911"/>
          </a:xfrm>
          <a:prstGeom prst="rect">
            <a:avLst/>
          </a:prstGeom>
        </p:spPr>
      </p:pic>
      <p:sp>
        <p:nvSpPr>
          <p:cNvPr id="28" name="Text 24"/>
          <p:cNvSpPr/>
          <p:nvPr/>
        </p:nvSpPr>
        <p:spPr>
          <a:xfrm>
            <a:off x="7963257" y="6900386"/>
            <a:ext cx="2946083" cy="634365"/>
          </a:xfrm>
          <a:prstGeom prst="rect">
            <a:avLst/>
          </a:prstGeom>
          <a:noFill/>
          <a:ln/>
        </p:spPr>
        <p:txBody>
          <a:bodyPr wrap="square" lIns="0" tIns="0" rIns="0" bIns="0" rtlCol="0" anchor="t"/>
          <a:lstStyle/>
          <a:p>
            <a:pPr marL="0" indent="0" algn="l">
              <a:lnSpc>
                <a:spcPts val="1250"/>
              </a:lnSpc>
              <a:buNone/>
            </a:pPr>
            <a:r>
              <a:rPr lang="en-US" sz="750" i="1" dirty="0">
                <a:solidFill>
                  <a:srgbClr val="D6D9D7"/>
                </a:solidFill>
                <a:latin typeface="Inter" pitchFamily="34" charset="0"/>
                <a:ea typeface="Inter" pitchFamily="34" charset="-122"/>
                <a:cs typeface="Inter" pitchFamily="34" charset="-120"/>
              </a:rPr>
              <a:t>"LoanFlow AI combines best-in-class technology with deep understanding of loan market infrastructure. This is the platform the industry has been waiting for—comprehensive, intelligent, and immediately actionable."</a:t>
            </a:r>
            <a:endParaRPr lang="en-US" sz="750" dirty="0"/>
          </a:p>
        </p:txBody>
      </p:sp>
      <p:sp>
        <p:nvSpPr>
          <p:cNvPr id="29" name="Shape 25"/>
          <p:cNvSpPr/>
          <p:nvPr/>
        </p:nvSpPr>
        <p:spPr>
          <a:xfrm>
            <a:off x="7814429" y="6900386"/>
            <a:ext cx="15240" cy="634365"/>
          </a:xfrm>
          <a:prstGeom prst="rect">
            <a:avLst/>
          </a:prstGeom>
          <a:solidFill>
            <a:srgbClr val="AC9EF5"/>
          </a:solidFill>
          <a:ln/>
        </p:spPr>
      </p:sp>
      <p:sp>
        <p:nvSpPr>
          <p:cNvPr id="30" name="Shape 26"/>
          <p:cNvSpPr/>
          <p:nvPr/>
        </p:nvSpPr>
        <p:spPr>
          <a:xfrm>
            <a:off x="3728442" y="7807449"/>
            <a:ext cx="7173397" cy="20003"/>
          </a:xfrm>
          <a:prstGeom prst="rect">
            <a:avLst/>
          </a:prstGeom>
          <a:solidFill>
            <a:srgbClr val="D6D9D7">
              <a:alpha val="50000"/>
            </a:srgbClr>
          </a:solidFill>
          <a:ln/>
        </p:spPr>
      </p:sp>
      <p:sp>
        <p:nvSpPr>
          <p:cNvPr id="31" name="Text 27"/>
          <p:cNvSpPr/>
          <p:nvPr/>
        </p:nvSpPr>
        <p:spPr>
          <a:xfrm>
            <a:off x="3728442" y="7938968"/>
            <a:ext cx="7173397" cy="127040"/>
          </a:xfrm>
          <a:prstGeom prst="rect">
            <a:avLst/>
          </a:prstGeom>
          <a:noFill/>
          <a:ln/>
        </p:spPr>
        <p:txBody>
          <a:bodyPr wrap="none" lIns="0" tIns="0" rIns="0" bIns="0" rtlCol="0" anchor="t"/>
          <a:lstStyle/>
          <a:p>
            <a:pPr marL="0" indent="0" algn="ctr">
              <a:lnSpc>
                <a:spcPts val="1000"/>
              </a:lnSpc>
              <a:buNone/>
            </a:pPr>
            <a:r>
              <a:rPr lang="en-US" sz="600" b="1" dirty="0">
                <a:solidFill>
                  <a:srgbClr val="D6D9D7"/>
                </a:solidFill>
                <a:latin typeface="Inter" pitchFamily="34" charset="0"/>
                <a:ea typeface="Inter" pitchFamily="34" charset="-122"/>
                <a:cs typeface="Inter" pitchFamily="34" charset="-120"/>
              </a:rPr>
              <a:t>Built with excellence for the LMA Edge Hackathon 2025</a:t>
            </a:r>
            <a:r>
              <a:rPr lang="en-US" sz="600" dirty="0">
                <a:solidFill>
                  <a:srgbClr val="D6D9D7"/>
                </a:solidFill>
                <a:latin typeface="Inter" pitchFamily="34" charset="0"/>
                <a:ea typeface="Inter" pitchFamily="34" charset="-122"/>
                <a:cs typeface="Inter" pitchFamily="34" charset="-120"/>
              </a:rPr>
              <a:t> • Reimagining loan markets through practical, commercial, and scalable solutions • Contact: [email protected]</a:t>
            </a:r>
            <a:endParaRPr lang="en-US" sz="600" dirty="0"/>
          </a:p>
        </p:txBody>
      </p:sp>
      <p:sp>
        <p:nvSpPr>
          <p:cNvPr id="32" name="Rectangle: Rounded Corners 31">
            <a:extLst>
              <a:ext uri="{FF2B5EF4-FFF2-40B4-BE49-F238E27FC236}">
                <a16:creationId xmlns:a16="http://schemas.microsoft.com/office/drawing/2014/main" id="{C5AE6C9D-2E1D-5234-21DE-EE80A86CEA86}"/>
              </a:ext>
            </a:extLst>
          </p:cNvPr>
          <p:cNvSpPr/>
          <p:nvPr/>
        </p:nvSpPr>
        <p:spPr>
          <a:xfrm>
            <a:off x="12885821" y="7808495"/>
            <a:ext cx="1636295" cy="317540"/>
          </a:xfrm>
          <a:prstGeom prst="roundRect">
            <a:avLst/>
          </a:prstGeom>
          <a:solidFill>
            <a:srgbClr val="2D31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2275</Words>
  <Application>Microsoft Office PowerPoint</Application>
  <PresentationFormat>Custom</PresentationFormat>
  <Paragraphs>211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Inter</vt:lpstr>
      <vt:lpstr>DM Sans Medium</vt:lpstr>
      <vt:lpstr>DM Sans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Michael G. Inso</cp:lastModifiedBy>
  <cp:revision>2</cp:revision>
  <dcterms:created xsi:type="dcterms:W3CDTF">2026-01-08T01:50:38Z</dcterms:created>
  <dcterms:modified xsi:type="dcterms:W3CDTF">2026-01-08T01:53:14Z</dcterms:modified>
</cp:coreProperties>
</file>